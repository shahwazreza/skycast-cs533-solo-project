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0" r:id="rId13"/>
    <p:sldId id="271" r:id="rId14"/>
    <p:sldId id="272" r:id="rId15"/>
    <p:sldId id="273" r:id="rId16"/>
    <p:sldId id="276" r:id="rId17"/>
    <p:sldId id="277" r:id="rId18"/>
    <p:sldId id="279" r:id="rId19"/>
    <p:sldId id="280" r:id="rId20"/>
    <p:sldId id="285" r:id="rId21"/>
    <p:sldId id="286" r:id="rId22"/>
    <p:sldId id="283" r:id="rId23"/>
    <p:sldId id="284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2E46"/>
    <a:srgbClr val="1C32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74E4F7-2585-6029-B9C2-D751FA2CF8CB}" v="1085" dt="2026-10-10T23:38:11.85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2B1B2C-E636-41F6-BBDA-551817183766}" type="datetimeFigureOut">
              <a:t>10/10/2026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289FEE-E73C-4EE2-98F6-0451C08F3EB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759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SkyCast: a weather app built for the CS533 solo project, following the SDLC.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assignment asks for two activities, a fragment and data visualization. SkyCast has three of each. All weather data comes from the free Open-Meteo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Waterfall fits: the requirements were fixed by the assignment, the deadline was short, and the report sections match the phases. A defect found in testing loops back to development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 guide what the app must do; stakeholders show who it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 and Should requirements are all implemented. The two Could items are stretch goals, moved to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NFR has a way to measure it, which feeds the test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choice here was shaped by one constraint: the build setup is copied from a working course project, so no new libraries.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new dependencies, networking, storage and charts are written with what Android provides. More code, but no setup risk and full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Activities and fragments only talk to WeatherRepository. The repository tries the network first and falls back to the SQLite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UC-01, 02 and 06 include Fetch forecast. UC-07, offline data, extends it when the network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MainActivity hosts the three fragments. Search returns a city with startActivityForResult; Settings triggers a reload if units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risk, depending on a free API, is covered by the offline cache. The rest are accepted trade-offs of the fixed toolchain.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 is split by responsibility. ui is the largest because it holds all three activities, three fragments and their adapters.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method delivers FR-12 (offline) and NFR-03 (no crash). Any network or parsing failure falls through to the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SimpleChartView rounds the gridline step to 1, 2, 5 or 10 times a power of ten, so the y-axis always reads cleanly whatever the temperatures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in the Result column after running each case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cover the remaining functional requirements and the measurable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each dashed frame with a screenshot from the phone (portrait). Keep the captions.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each dashed frame with a screenshot from the phone (portrait). Keep the captions.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862C9-26BC-A891-3D31-94179FC76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DA4DD-191A-0133-5511-5F9C7DF6F8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291BAB-9E03-E2BB-D55E-A0369DA47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each dashed frame with a screenshot from the phone (portrait). Keep the captions.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402C1-AF1A-C189-F173-41F81EE211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7880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are the unbuilt stretch requirements. The last one would modernize the code if the course toolchain allowed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939257"/>
            <a:ext cx="5898630" cy="4803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0" y="-1"/>
            <a:ext cx="12192000" cy="47840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C7B0B-C375-9D64-1424-3B07B71AF1F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205927" y="4939715"/>
            <a:ext cx="4420031" cy="479458"/>
          </a:xfrm>
        </p:spPr>
        <p:txBody>
          <a:bodyPr anchor="t"/>
          <a:lstStyle>
            <a:lvl1pPr>
              <a:defRPr sz="1400"/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9117021-C08A-0E4F-5F64-FC1A870E481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762792" y="4939257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9001D668-DD9C-F5B4-B191-51BDD0B308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03035" y="5873424"/>
            <a:ext cx="1005840" cy="10058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09A08CF-24F0-EC7D-277D-CB831E7E7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9847" y="5718869"/>
            <a:ext cx="5916168" cy="1143000"/>
          </a:xfrm>
        </p:spPr>
        <p:txBody>
          <a:bodyPr anchor="b">
            <a:normAutofit/>
          </a:bodyPr>
          <a:lstStyle>
            <a:lvl1pPr>
              <a:lnSpc>
                <a:spcPct val="60000"/>
              </a:lnSpc>
              <a:defRPr sz="5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7094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406F310-2B8D-3C32-560C-686817E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49" y="1012175"/>
            <a:ext cx="11113008" cy="84979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4FD1A6D-2D8E-1FD1-C1AC-CB5E9D5A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375" y="110364"/>
            <a:ext cx="527685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DE430-EE65-B675-F031-7651DE9D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05BC9-1670-00D4-5A66-F52444DA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959" y="104649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2115542"/>
            <a:ext cx="11013670" cy="44515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93843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457214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134185-2980-312E-60AF-F360D16FB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81290"/>
            <a:ext cx="4654296" cy="3739896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007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" y="6174463"/>
            <a:ext cx="5891134" cy="65483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D29E0058-93A2-5291-6ACA-A043086266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03035" y="5873424"/>
            <a:ext cx="1005840" cy="100584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F14EE-EFB3-D2DC-CEAA-621D66627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3E0DC-DE5C-286F-36BD-6985F4A6C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207AF81-9CDB-689F-CE00-62257104E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70B1373-40A5-190F-BE9F-8FC310F7B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2159632"/>
            <a:ext cx="9683496" cy="377647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34683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4E7A70C-B49B-5779-BA11-88AE4939E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377355" y="83125"/>
            <a:ext cx="731520" cy="73152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8197F50-0DC4-261A-813C-264E7361D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2184032"/>
            <a:ext cx="8074152" cy="4718304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964583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 userDrawn="1">
          <p15:clr>
            <a:srgbClr val="FBAE40"/>
          </p15:clr>
        </p15:guide>
        <p15:guide id="6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82296"/>
            <a:ext cx="8139659" cy="1554480"/>
          </a:xfrm>
        </p:spPr>
        <p:txBody>
          <a:bodyPr anchor="t">
            <a:norm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-1" y="1896472"/>
            <a:ext cx="8139660" cy="3557904"/>
          </a:xfrm>
        </p:spPr>
        <p:txBody>
          <a:bodyPr>
            <a:normAutofit/>
          </a:bodyPr>
          <a:lstStyle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75C8E38-E957-9E3C-9A05-717C0F009AB9}"/>
              </a:ext>
            </a:extLst>
          </p:cNvPr>
          <p:cNvSpPr/>
          <p:nvPr/>
        </p:nvSpPr>
        <p:spPr>
          <a:xfrm>
            <a:off x="8552512" y="3218512"/>
            <a:ext cx="3557904" cy="3557904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1E193C2-09EC-BB41-5A34-007D34EB8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00701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0320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6396" y="621792"/>
            <a:ext cx="5386715" cy="1816898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0" y="0"/>
            <a:ext cx="590664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90488" y="110364"/>
            <a:ext cx="5349239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90488" y="2740228"/>
            <a:ext cx="5906642" cy="4096512"/>
          </a:xfrm>
        </p:spPr>
        <p:txBody>
          <a:bodyPr anchor="b">
            <a:normAutofit/>
          </a:bodyPr>
          <a:lstStyle>
            <a:lvl1pPr marL="342900" indent="-3429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003236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0178B15-836F-D50E-D616-40C937324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645" y="987552"/>
            <a:ext cx="5366480" cy="4044508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3A196D4-110B-6911-7AF5-9149D3FFF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2150" y="100701"/>
            <a:ext cx="5366480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A8D9253F-93F3-9EB9-BFA6-49C9461DE0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90488" y="100701"/>
            <a:ext cx="294044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94C6C96-D651-5D6B-830B-07E5A3542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05731" y="100701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90488" y="969264"/>
            <a:ext cx="5336753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0482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496" y="988979"/>
            <a:ext cx="3462878" cy="294241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9910B-18FC-4A92-025A-A88AC7CD6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2150" y="100701"/>
            <a:ext cx="3470224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52728-D41A-655E-871F-F76147E0E9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7167" y="100701"/>
            <a:ext cx="294044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07CC96-728B-298D-B2D6-54C4E9F0E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05731" y="100701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17167" y="967689"/>
            <a:ext cx="7217771" cy="523716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962179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7D0064E-1F0E-2DDF-C6B5-9CE196C4B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5804" y="612140"/>
            <a:ext cx="6499655" cy="1519612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0" y="1"/>
            <a:ext cx="480401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 lang="en-US" dirty="0"/>
            </a:lvl1pPr>
          </a:lstStyle>
          <a:p>
            <a:endParaRPr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D478DAE4-13AB-5772-07E6-B3264F1E314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4122" y="2457406"/>
            <a:ext cx="6441338" cy="3778977"/>
          </a:xfrm>
        </p:spPr>
        <p:txBody>
          <a:bodyPr anchor="t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04122" y="6452990"/>
            <a:ext cx="1968375" cy="365125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16252" y="6452989"/>
            <a:ext cx="429207" cy="365125"/>
          </a:xfrm>
        </p:spPr>
        <p:txBody>
          <a:bodyPr anchor="b"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9154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CDF6858-35EF-4C90-B3F5-339B7EF1F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1793" y="621792"/>
            <a:ext cx="7252710" cy="1138769"/>
          </a:xfrm>
        </p:spPr>
        <p:txBody>
          <a:bodyPr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2FCF01F-6AD4-FD29-865E-65BD55CF89D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309088" y="2115404"/>
            <a:ext cx="7225415" cy="4212926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4F9B8FC8-8820-A655-2A18-E8F8FC2C72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1793" y="6492875"/>
            <a:ext cx="1968375" cy="365125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13" name="Date Placeholder 2">
            <a:extLst>
              <a:ext uri="{FF2B5EF4-FFF2-40B4-BE49-F238E27FC236}">
                <a16:creationId xmlns:a16="http://schemas.microsoft.com/office/drawing/2014/main" id="{A8C032E2-BBA3-EA74-8FE1-5AFC46A21AE1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9023903" y="6492875"/>
            <a:ext cx="1596200" cy="365125"/>
          </a:xfrm>
        </p:spPr>
        <p:txBody>
          <a:bodyPr anchor="b"/>
          <a:lstStyle/>
          <a:p>
            <a:endParaRPr lang="en-US" dirty="0"/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D28087CA-07B9-D0D2-3AA7-C34B5C9645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05296" y="6492875"/>
            <a:ext cx="429207" cy="365125"/>
          </a:xfrm>
        </p:spPr>
        <p:txBody>
          <a:bodyPr anchor="b"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35880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5">
            <a:extLst>
              <a:ext uri="{FF2B5EF4-FFF2-40B4-BE49-F238E27FC236}">
                <a16:creationId xmlns:a16="http://schemas.microsoft.com/office/drawing/2014/main" id="{7A932ED1-5750-0D24-8D58-961B6F20F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307" y="621792"/>
            <a:ext cx="7252710" cy="113876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01598DB3-17DB-7EDD-0F42-9866A753C2D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69602" y="2115404"/>
            <a:ext cx="7225415" cy="4212926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6C5AB1A9-786B-C92B-C6EA-63CE0AACFB1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168640" y="1"/>
            <a:ext cx="402336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C6115057-015C-DC83-074A-D22D9E0B6CD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2307" y="6492875"/>
            <a:ext cx="1968375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8" name="Date Placeholder 1">
            <a:extLst>
              <a:ext uri="{FF2B5EF4-FFF2-40B4-BE49-F238E27FC236}">
                <a16:creationId xmlns:a16="http://schemas.microsoft.com/office/drawing/2014/main" id="{42028964-5597-F5F0-6AEA-C79255C9BCE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5284417" y="6492875"/>
            <a:ext cx="15962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B6324527-5F82-8213-FFB9-A5E6BEB2314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365810" y="6492875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724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15000-16D8-B5F1-E35B-BAE97B4E6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15" y="621793"/>
            <a:ext cx="5326684" cy="1507454"/>
          </a:xfrm>
        </p:spPr>
        <p:txBody>
          <a:bodyPr anchor="t" anchorCtr="0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7">
            <a:extLst>
              <a:ext uri="{FF2B5EF4-FFF2-40B4-BE49-F238E27FC236}">
                <a16:creationId xmlns:a16="http://schemas.microsoft.com/office/drawing/2014/main" id="{B022A1E6-0A6D-9476-5034-0BDE3EE38B9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18616" y="2513110"/>
            <a:ext cx="5326683" cy="3568006"/>
          </a:xfrm>
        </p:spPr>
        <p:txBody>
          <a:bodyPr anchor="t" anchorCtr="0"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6B8D4096-4B0D-5226-C004-475A83BE8BFE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6308842" y="0"/>
            <a:ext cx="588315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917C8CF-AEBF-835D-4503-06A0208049F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8615" y="6450237"/>
            <a:ext cx="1968375" cy="365125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3662962-C2D0-E99D-BD6A-C97F4798F2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5453953" y="6464979"/>
            <a:ext cx="429207" cy="365125"/>
          </a:xfrm>
        </p:spPr>
        <p:txBody>
          <a:bodyPr anchor="b"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3406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98B87BE0-867D-AF74-02DD-6F5420BC6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965" y="621792"/>
            <a:ext cx="4446871" cy="1867629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7B86FDEC-359F-20D5-12F6-5CBA3DC009E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43940" y="2890729"/>
            <a:ext cx="4449227" cy="3138438"/>
          </a:xfrm>
        </p:spPr>
        <p:txBody>
          <a:bodyPr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FBEF9CB2-E8D7-8869-9B11-C58F1606DFE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5363570" y="0"/>
            <a:ext cx="682843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4784CE43-81E9-3B12-CB65-9B5FC6ECE9E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18" y="6430476"/>
            <a:ext cx="1968375" cy="379867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11" name="Slide Number Placeholder 9">
            <a:extLst>
              <a:ext uri="{FF2B5EF4-FFF2-40B4-BE49-F238E27FC236}">
                <a16:creationId xmlns:a16="http://schemas.microsoft.com/office/drawing/2014/main" id="{779F1775-5104-9F86-4A61-07F914947CC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563960" y="6430476"/>
            <a:ext cx="429207" cy="379867"/>
          </a:xfrm>
        </p:spPr>
        <p:txBody>
          <a:bodyPr anchor="b"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287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9733" y="621792"/>
            <a:ext cx="3884546" cy="2280501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74736F65-8A7D-D535-AAD0-31480F8AD31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-1" y="0"/>
            <a:ext cx="7260609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87521" y="3211512"/>
            <a:ext cx="3884547" cy="2743200"/>
          </a:xfrm>
        </p:spPr>
        <p:txBody>
          <a:bodyPr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C64245F1-97E2-FD23-26A5-03067F46469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49733" y="6456384"/>
            <a:ext cx="1968375" cy="379867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5E75D5B-F407-F4DD-192B-D56CF168CDA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4152" y="6456385"/>
            <a:ext cx="429207" cy="379867"/>
          </a:xfrm>
        </p:spPr>
        <p:txBody>
          <a:bodyPr anchor="b"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4819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B686070-85E7-EB57-8965-F95F2692C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3608276"/>
            <a:ext cx="4428700" cy="2620587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-1" y="0"/>
            <a:ext cx="12192000" cy="3429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4546533B-13A8-961D-BD05-8DE715F6340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68036" y="3579702"/>
            <a:ext cx="6298442" cy="262058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8">
            <a:extLst>
              <a:ext uri="{FF2B5EF4-FFF2-40B4-BE49-F238E27FC236}">
                <a16:creationId xmlns:a16="http://schemas.microsoft.com/office/drawing/2014/main" id="{9349FD65-108E-79AD-A9C8-91429963386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262666" y="6442872"/>
            <a:ext cx="1968375" cy="379867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547B7542-C2BA-4322-9FF4-E2713B917492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7697040" y="6442872"/>
            <a:ext cx="2295997" cy="379867"/>
          </a:xfrm>
        </p:spPr>
        <p:txBody>
          <a:bodyPr anchor="b"/>
          <a:lstStyle/>
          <a:p>
            <a:endParaRPr lang="en-US" dirty="0"/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EB058DA4-9F6F-CC80-D1C5-728E096806C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7271" y="6442873"/>
            <a:ext cx="429207" cy="379867"/>
          </a:xfrm>
        </p:spPr>
        <p:txBody>
          <a:bodyPr anchor="b"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3460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B0F469B-7972-C862-3265-20EC44D74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631710"/>
            <a:ext cx="11032239" cy="111520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1A9091ED-65DB-CA4C-BC68-EC773138EFA0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09181" y="2115403"/>
            <a:ext cx="5786651" cy="4671431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>
              <a:defRPr/>
            </a:lvl1pPr>
          </a:lstStyle>
          <a:p>
            <a:endParaRPr/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A3F07A79-5344-FA17-3625-1266EFAA87F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0488" y="2115403"/>
            <a:ext cx="5353815" cy="4110888"/>
          </a:xfrm>
        </p:spPr>
        <p:txBody>
          <a:bodyPr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C0D704B-E4D2-B261-890F-35C54C94C6E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6177425" y="6428984"/>
            <a:ext cx="4467829" cy="365125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5932FFD-B632-F7EE-B653-9A621348C003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0926847" y="6421709"/>
            <a:ext cx="617457" cy="365125"/>
          </a:xfrm>
        </p:spPr>
        <p:txBody>
          <a:bodyPr anchor="b"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374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1348" y="644000"/>
            <a:ext cx="2594550" cy="1877132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606740" y="2899954"/>
            <a:ext cx="3610418" cy="331404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anchor="t"/>
          <a:lstStyle>
            <a:lvl1pPr marL="0" indent="0">
              <a:buNone/>
              <a:defRPr/>
            </a:lvl1pPr>
          </a:lstStyle>
          <a:p>
            <a:endParaRPr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2183" y="644000"/>
            <a:ext cx="7183078" cy="5570000"/>
          </a:xfrm>
        </p:spPr>
        <p:txBody>
          <a:bodyPr anchor="b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6">
            <a:extLst>
              <a:ext uri="{FF2B5EF4-FFF2-40B4-BE49-F238E27FC236}">
                <a16:creationId xmlns:a16="http://schemas.microsoft.com/office/drawing/2014/main" id="{E471EB04-B63C-4629-0688-E2CC8C576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5926" y="6438284"/>
            <a:ext cx="5276852" cy="365125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  <p:sp>
        <p:nvSpPr>
          <p:cNvPr id="12" name="Date Placeholder 5">
            <a:extLst>
              <a:ext uri="{FF2B5EF4-FFF2-40B4-BE49-F238E27FC236}">
                <a16:creationId xmlns:a16="http://schemas.microsoft.com/office/drawing/2014/main" id="{A4924D77-E18C-D84A-F550-9B0188FEBF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190488" y="6432496"/>
            <a:ext cx="2544079" cy="365125"/>
          </a:xfrm>
        </p:spPr>
        <p:txBody>
          <a:bodyPr anchor="b"/>
          <a:lstStyle/>
          <a:p>
            <a:endParaRPr lang="en-US" dirty="0"/>
          </a:p>
        </p:txBody>
      </p:sp>
      <p:sp>
        <p:nvSpPr>
          <p:cNvPr id="14" name="Slide Number Placeholder 8">
            <a:extLst>
              <a:ext uri="{FF2B5EF4-FFF2-40B4-BE49-F238E27FC236}">
                <a16:creationId xmlns:a16="http://schemas.microsoft.com/office/drawing/2014/main" id="{38B4B455-40D3-EF76-D860-2A6FFBF6983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99128" y="6438284"/>
            <a:ext cx="429207" cy="365125"/>
          </a:xfrm>
        </p:spPr>
        <p:txBody>
          <a:bodyPr anchor="b"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5243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504688"/>
            <a:ext cx="5902657" cy="1353312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54591" y="-156950"/>
            <a:ext cx="5957248" cy="4510586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10101" y="5852160"/>
            <a:ext cx="1005840" cy="100584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00701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6144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0058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6453" y="5852160"/>
            <a:ext cx="1005840" cy="1005840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F777942-A24A-16CB-2115-A16E397BBB0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91D0C3F1-69CA-2A45-33F7-9AF4B8FFEDB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DB65802-3866-05DF-F96B-15A117F7C7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17470" y="1016759"/>
            <a:ext cx="10082693" cy="584124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85559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83347" y="5852160"/>
            <a:ext cx="1005840" cy="100584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A0FBB42-F049-CCA6-45E1-D60DC58A76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5899926"/>
            <a:ext cx="5902657" cy="958073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5" name="Content Placeholder 6">
            <a:extLst>
              <a:ext uri="{FF2B5EF4-FFF2-40B4-BE49-F238E27FC236}">
                <a16:creationId xmlns:a16="http://schemas.microsoft.com/office/drawing/2014/main" id="{2B5E50A9-B175-CA38-A22A-468AE7533B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-18288" y="95534"/>
            <a:ext cx="8961120" cy="4476466"/>
          </a:xfrm>
        </p:spPr>
        <p:txBody>
          <a:bodyPr anchor="t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84D7E47A-F89A-8F43-C300-185AD1461C0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762793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1CA01B7F-0CDC-9F0A-6B3B-A87674D14D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93030" y="6392564"/>
            <a:ext cx="3104866" cy="365125"/>
          </a:xfrm>
        </p:spPr>
        <p:txBody>
          <a:bodyPr anchor="b"/>
          <a:lstStyle/>
          <a:p>
            <a:r>
              <a:rPr lang="en-US" dirty="0"/>
              <a:t>
              </a:t>
            </a:r>
          </a:p>
        </p:txBody>
      </p:sp>
    </p:spTree>
    <p:extLst>
      <p:ext uri="{BB962C8B-B14F-4D97-AF65-F5344CB8AC3E}">
        <p14:creationId xmlns:p14="http://schemas.microsoft.com/office/powerpoint/2010/main" val="5804719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A74F0-5415-CAD7-98B3-4A75913F4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987552"/>
            <a:ext cx="3465576" cy="294436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1E178-0505-15CE-6ACB-7BE1FB1E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3" y="110364"/>
            <a:ext cx="3474720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82246E-2BFA-5BAA-F22D-A2618C05A0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315968" y="104576"/>
            <a:ext cx="483688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4BA02B-433E-FB95-6E96-11393CDBD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74B4B98-ABA0-9FD3-485A-984EDEEB446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315966" y="987552"/>
            <a:ext cx="7446825" cy="2560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3822067E-4B47-03C7-3636-0C6F8324E1E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315967" y="3931920"/>
            <a:ext cx="7446824" cy="2560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778751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F29C1-2D4D-0529-EAD3-926838F41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064" y="630936"/>
            <a:ext cx="11018520" cy="10883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6A1D5A-FFC5-5F10-90D2-A3FBCC312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2" y="110364"/>
            <a:ext cx="527685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1BD63D-FC9C-D946-5560-869AEDE315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90488" y="104576"/>
            <a:ext cx="483688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2EF08D-93E2-AF7A-F559-DDB0B35B8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48CB9E0-8B46-6608-0C37-7C5ABA9B4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2286000"/>
            <a:ext cx="5184648" cy="53403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Content Placeholder 5">
            <a:extLst>
              <a:ext uri="{FF2B5EF4-FFF2-40B4-BE49-F238E27FC236}">
                <a16:creationId xmlns:a16="http://schemas.microsoft.com/office/drawing/2014/main" id="{C2C05A59-CCEE-1225-7022-B1DA682C704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30351" y="2980943"/>
            <a:ext cx="5183188" cy="35861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6471C19-5F51-6595-B72A-4BFC1E553D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90488" y="2286000"/>
            <a:ext cx="5183188" cy="534033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0AB20C10-A144-EF5E-8276-7E736CE875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90488" y="2980944"/>
            <a:ext cx="5183188" cy="358611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91594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6D1F904E-1F4C-373E-2E2B-D7478F70F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644663"/>
            <a:ext cx="11045952" cy="10883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2" y="109728"/>
            <a:ext cx="527685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1928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09530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AD1B27E-1142-7BB8-1DE8-D31FA8AA8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100701"/>
            <a:ext cx="5898630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900E2BC-FCC7-E994-4648-A42CDE5186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17920" y="100701"/>
            <a:ext cx="5332001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E211A59-CFA8-A0B1-4A4C-E446F9072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100701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87009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926" y="655093"/>
            <a:ext cx="10982409" cy="1528549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45926" y="2497540"/>
            <a:ext cx="10982409" cy="3384645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D7A9B30-35AB-D437-5276-473CFE5169D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45926" y="6438284"/>
            <a:ext cx="527685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0D033E8C-C8B6-A9F1-6B99-0610AEC435CB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190488" y="6432496"/>
            <a:ext cx="25440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09C00759-43C5-D4A5-6597-C9F31C4DA2A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99128" y="643828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22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615" y="2883090"/>
            <a:ext cx="7741851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9D34928-44CA-ACCE-36AD-37689020A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6906" y="100701"/>
            <a:ext cx="5361724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B6F43E62-A9B0-571B-E3BD-354206A8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17921" y="100701"/>
            <a:ext cx="252603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6905" y="4922111"/>
            <a:ext cx="7741850" cy="1279615"/>
          </a:xfrm>
        </p:spPr>
        <p:txBody>
          <a:bodyPr anchor="t"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762793" y="6392174"/>
            <a:ext cx="429207" cy="365125"/>
          </a:xfrm>
        </p:spPr>
        <p:txBody>
          <a:bodyPr anchor="b"/>
          <a:lstStyle/>
          <a:p>
            <a:fld id="{CC057153-B650-4DEB-B370-79DDCFDCE934}" type="slidenum">
              <a:rPr lang="en-US" dirty="0"/>
              <a:t>‹#›</a:t>
            </a:fld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3CF16D9-01F3-6CE6-7291-C344E099BBD0}"/>
              </a:ext>
            </a:extLst>
          </p:cNvPr>
          <p:cNvSpPr/>
          <p:nvPr/>
        </p:nvSpPr>
        <p:spPr>
          <a:xfrm>
            <a:off x="8454179" y="100701"/>
            <a:ext cx="3557904" cy="3557904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9443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103120"/>
            <a:ext cx="8686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6118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569326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SkyCast  ·  CS533 Solo Project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347472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200" b="1" kern="0" spc="200" dirty="0">
                <a:solidFill>
                  <a:schemeClr val="accent1"/>
                </a:solidFill>
              </a:defRPr>
            </a:lvl1pPr>
          </a:lstStyle>
          <a:p>
            <a:pPr marL="0" indent="0">
              <a:buNone/>
            </a:pPr>
            <a:endParaRPr lang="en-US" sz="12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215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8288" y="644663"/>
            <a:ext cx="12001592" cy="1088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90488" y="104576"/>
            <a:ext cx="4836883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01" y="110364"/>
            <a:ext cx="5276852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 rtl="0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2792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 rtl="0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1907521"/>
            <a:ext cx="12001592" cy="48401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91846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  <p:sldLayoutId id="2147483720" r:id="rId24"/>
    <p:sldLayoutId id="2147483721" r:id="rId25"/>
    <p:sldLayoutId id="2147483722" r:id="rId26"/>
    <p:sldLayoutId id="2147483723" r:id="rId27"/>
    <p:sldLayoutId id="2147483724" r:id="rId28"/>
    <p:sldLayoutId id="2147483725" r:id="rId29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 userDrawn="1">
          <p15:clr>
            <a:srgbClr val="F26B43"/>
          </p15:clr>
        </p15:guide>
        <p15:guide id="6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hahwazreza/SkyCast-CS533-Solo-Projec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SkyCast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An Android weather app with charts, favorites and offline support</a:t>
            </a:r>
            <a:endParaRPr lang="en-US" sz="2000" dirty="0"/>
          </a:p>
          <a:p>
            <a:r>
              <a:rPr lang="en-US" sz="1600">
                <a:solidFill>
                  <a:srgbClr val="FFC000"/>
                </a:solidFill>
              </a:rPr>
              <a:t>CS533 Personal Project  ·  Project Report </a:t>
            </a:r>
            <a:endParaRPr lang="en-US">
              <a:solidFill>
                <a:srgbClr val="FFC000"/>
              </a:solidFill>
            </a:endParaRPr>
          </a:p>
          <a:p>
            <a:pPr marL="0" indent="0">
              <a:buNone/>
            </a:pPr>
            <a:r>
              <a:rPr lang="en-US" sz="1600">
                <a:solidFill>
                  <a:srgbClr val="FFC000"/>
                </a:solidFill>
              </a:rPr>
              <a:t>Reza Shahwaz</a:t>
            </a:r>
            <a:endParaRPr lang="en-US">
              <a:solidFill>
                <a:srgbClr val="FFC000"/>
              </a:solidFill>
            </a:endParaRPr>
          </a:p>
          <a:p>
            <a:r>
              <a:rPr lang="en-US" sz="1600">
                <a:solidFill>
                  <a:srgbClr val="FFC000"/>
                </a:solidFill>
                <a:ea typeface="+mn-lt"/>
                <a:cs typeface="+mn-l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https://github.com/shahwazreza/SkyCast-CS533-Solo-Project</a:t>
            </a:r>
            <a:endParaRPr lang="en-US">
              <a:solidFill>
                <a:srgbClr val="FFC000"/>
              </a:solidFill>
              <a:ea typeface="+mn-lt"/>
              <a:cs typeface="+mn-lt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sz="1600">
              <a:solidFill>
                <a:srgbClr val="FFC000"/>
              </a:solidFill>
            </a:endParaRPr>
          </a:p>
        </p:txBody>
      </p:sp>
      <p:sp>
        <p:nvSpPr>
          <p:cNvPr id="4" name="sun"/>
          <p:cNvSpPr/>
          <p:nvPr/>
        </p:nvSpPr>
        <p:spPr>
          <a:xfrm>
            <a:off x="9144000" y="1463040"/>
            <a:ext cx="2468880" cy="2468880"/>
          </a:xfrm>
          <a:prstGeom prst="ellipse">
            <a:avLst/>
          </a:prstGeom>
          <a:solidFill>
            <a:srgbClr val="FFFF00"/>
          </a:solidFill>
          <a:ln w="12700">
            <a:solidFill>
              <a:srgbClr val="FFFF00"/>
            </a:solidFill>
            <a:prstDash val="solid"/>
          </a:ln>
        </p:spPr>
      </p:sp>
      <p:pic>
        <p:nvPicPr>
          <p:cNvPr id="5" name="cloud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74320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err="1">
                <a:latin typeface="Cambria"/>
                <a:ea typeface="Cambria"/>
              </a:rPr>
              <a:t>SkyCast</a:t>
            </a:r>
            <a:r>
              <a:rPr lang="en-US">
                <a:latin typeface="Cambria"/>
                <a:ea typeface="Cambria"/>
              </a:rPr>
              <a:t>: Components</a:t>
            </a:r>
            <a:endParaRPr lang="en-US" sz="3200">
              <a:latin typeface="Cambria"/>
              <a:ea typeface="Cambria"/>
            </a:endParaRPr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Current weather, a 7-day forecast and charts for any city, using the free Open-Meteo API (no key, no account). Built in Java on the course's Android build setup.</a:t>
            </a:r>
            <a:endParaRPr lang="en-US" sz="1700" dirty="0"/>
          </a:p>
        </p:txBody>
      </p:sp>
      <p:sp>
        <p:nvSpPr>
          <p:cNvPr id="6" name="stat-0"/>
          <p:cNvSpPr/>
          <p:nvPr/>
        </p:nvSpPr>
        <p:spPr>
          <a:xfrm>
            <a:off x="548640" y="2423160"/>
            <a:ext cx="2567864" cy="3566160"/>
          </a:xfrm>
          <a:prstGeom prst="roundRect">
            <a:avLst>
              <a:gd name="adj" fmla="val 3561"/>
            </a:avLst>
          </a:prstGeom>
          <a:noFill/>
          <a:ln w="12700">
            <a:noFill/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347472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4348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Activities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80060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Main, Search, Settings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53492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required: 2</a:t>
            </a:r>
            <a:endParaRPr lang="en-US" sz="1200" dirty="0"/>
          </a:p>
        </p:txBody>
      </p:sp>
      <p:sp>
        <p:nvSpPr>
          <p:cNvPr id="13" name="stat-1"/>
          <p:cNvSpPr/>
          <p:nvPr/>
        </p:nvSpPr>
        <p:spPr>
          <a:xfrm>
            <a:off x="3390824" y="2423160"/>
            <a:ext cx="2567864" cy="3566160"/>
          </a:xfrm>
          <a:prstGeom prst="roundRect">
            <a:avLst>
              <a:gd name="adj" fmla="val 3561"/>
            </a:avLst>
          </a:prstGeom>
          <a:noFill/>
          <a:ln w="12700">
            <a:noFill/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3665144" y="347472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2"/>
          <p:cNvSpPr txBox="1"/>
          <p:nvPr/>
        </p:nvSpPr>
        <p:spPr>
          <a:xfrm>
            <a:off x="3665144" y="44348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Fragments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3665144" y="480060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Today, Forecast, Favorites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3665144" y="53492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required: 1</a:t>
            </a:r>
            <a:endParaRPr lang="en-US" sz="1200" dirty="0"/>
          </a:p>
        </p:txBody>
      </p:sp>
      <p:sp>
        <p:nvSpPr>
          <p:cNvPr id="20" name="stat-2"/>
          <p:cNvSpPr/>
          <p:nvPr/>
        </p:nvSpPr>
        <p:spPr>
          <a:xfrm>
            <a:off x="6233008" y="2423160"/>
            <a:ext cx="2567864" cy="3566160"/>
          </a:xfrm>
          <a:prstGeom prst="roundRect">
            <a:avLst>
              <a:gd name="adj" fmla="val 3561"/>
            </a:avLst>
          </a:prstGeom>
          <a:noFill/>
          <a:ln w="12700">
            <a:noFill/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507328" y="347472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24" name="Text 18"/>
          <p:cNvSpPr txBox="1"/>
          <p:nvPr/>
        </p:nvSpPr>
        <p:spPr>
          <a:xfrm>
            <a:off x="6507328" y="44348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Charts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507328" y="480060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24-hour, high/low, rain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507328" y="53492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required: data visualization</a:t>
            </a:r>
            <a:endParaRPr lang="en-US" sz="1200" dirty="0"/>
          </a:p>
        </p:txBody>
      </p:sp>
      <p:sp>
        <p:nvSpPr>
          <p:cNvPr id="27" name="stat-3"/>
          <p:cNvSpPr/>
          <p:nvPr/>
        </p:nvSpPr>
        <p:spPr>
          <a:xfrm>
            <a:off x="9075191" y="2423160"/>
            <a:ext cx="2567864" cy="3566160"/>
          </a:xfrm>
          <a:prstGeom prst="roundRect">
            <a:avLst>
              <a:gd name="adj" fmla="val 3561"/>
            </a:avLst>
          </a:prstGeom>
          <a:noFill/>
          <a:ln w="12700">
            <a:noFill/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9349511" y="347472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2,366</a:t>
            </a:r>
            <a:endParaRPr lang="en-US" sz="5400" dirty="0"/>
          </a:p>
        </p:txBody>
      </p:sp>
      <p:sp>
        <p:nvSpPr>
          <p:cNvPr id="31" name="Text 24"/>
          <p:cNvSpPr txBox="1"/>
          <p:nvPr/>
        </p:nvSpPr>
        <p:spPr>
          <a:xfrm>
            <a:off x="9349511" y="44348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Lines of Java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349511" y="480060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25 classes, 9 layouts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9349511" y="5349240"/>
            <a:ext cx="2019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13 automated tests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>
                <a:latin typeface="Cambria"/>
                <a:ea typeface="Cambria"/>
              </a:rPr>
              <a:t>Developed using Waterfall Method</a:t>
            </a:r>
            <a:endParaRPr lang="en-US"/>
          </a:p>
        </p:txBody>
      </p:sp>
      <p:sp>
        <p:nvSpPr>
          <p:cNvPr id="5" name="phase-0"/>
          <p:cNvSpPr/>
          <p:nvPr/>
        </p:nvSpPr>
        <p:spPr>
          <a:xfrm>
            <a:off x="548640" y="1600200"/>
            <a:ext cx="1965960" cy="914400"/>
          </a:xfrm>
          <a:prstGeom prst="homePlate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Analysis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Oct 7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17342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1"/>
                </a:solidFill>
              </a:rPr>
              <a:t>Requirements, use cases</a:t>
            </a:r>
            <a:endParaRPr lang="en-US" sz="1300" dirty="0"/>
          </a:p>
        </p:txBody>
      </p:sp>
      <p:sp>
        <p:nvSpPr>
          <p:cNvPr id="8" name="phase-1"/>
          <p:cNvSpPr/>
          <p:nvPr/>
        </p:nvSpPr>
        <p:spPr>
          <a:xfrm>
            <a:off x="2374331" y="1600200"/>
            <a:ext cx="1965960" cy="914400"/>
          </a:xfrm>
          <a:prstGeom prst="chevron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85811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Design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Oct 7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648651" y="2651760"/>
            <a:ext cx="17342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1"/>
                </a:solidFill>
              </a:rPr>
              <a:t>Alternatives, diagrams, wireframes</a:t>
            </a:r>
            <a:endParaRPr lang="en-US" sz="1300" dirty="0"/>
          </a:p>
        </p:txBody>
      </p:sp>
      <p:sp>
        <p:nvSpPr>
          <p:cNvPr id="11" name="phase-2"/>
          <p:cNvSpPr/>
          <p:nvPr/>
        </p:nvSpPr>
        <p:spPr>
          <a:xfrm>
            <a:off x="4200022" y="1600200"/>
            <a:ext cx="1965960" cy="914400"/>
          </a:xfrm>
          <a:prstGeom prst="chevron">
            <a:avLst/>
          </a:prstGeom>
          <a:solidFill>
            <a:schemeClr val="tx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1502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Development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Oct 8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474342" y="2651760"/>
            <a:ext cx="17342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1"/>
                </a:solidFill>
              </a:rPr>
              <a:t>25 classes, done a day early</a:t>
            </a:r>
            <a:endParaRPr lang="en-US" sz="1300" dirty="0"/>
          </a:p>
        </p:txBody>
      </p:sp>
      <p:sp>
        <p:nvSpPr>
          <p:cNvPr id="14" name="phase-3"/>
          <p:cNvSpPr/>
          <p:nvPr/>
        </p:nvSpPr>
        <p:spPr>
          <a:xfrm>
            <a:off x="6025713" y="1600200"/>
            <a:ext cx="1965960" cy="914400"/>
          </a:xfrm>
          <a:prstGeom prst="chevron">
            <a:avLst/>
          </a:prstGeom>
          <a:solidFill>
            <a:srgbClr val="162E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37193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Testing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Oct 10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300033" y="2651760"/>
            <a:ext cx="17342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1"/>
                </a:solidFill>
              </a:rPr>
              <a:t>Unit, instrumented, manual</a:t>
            </a:r>
            <a:endParaRPr lang="en-US" sz="1300" dirty="0"/>
          </a:p>
        </p:txBody>
      </p:sp>
      <p:sp>
        <p:nvSpPr>
          <p:cNvPr id="17" name="phase-4"/>
          <p:cNvSpPr/>
          <p:nvPr/>
        </p:nvSpPr>
        <p:spPr>
          <a:xfrm>
            <a:off x="7851404" y="1600200"/>
            <a:ext cx="1965960" cy="914400"/>
          </a:xfrm>
          <a:prstGeom prst="chevron">
            <a:avLst/>
          </a:prstGeom>
          <a:solidFill>
            <a:srgbClr val="1C3248"/>
          </a:solidFill>
          <a:ln w="12700">
            <a:solidFill>
              <a:srgbClr val="162E4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62884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Implementation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chemeClr val="bg1"/>
                </a:solidFill>
              </a:rPr>
              <a:t>Oct 10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125724" y="2651760"/>
            <a:ext cx="17342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1"/>
                </a:solidFill>
              </a:rPr>
              <a:t>Real device, fix issues</a:t>
            </a:r>
            <a:endParaRPr lang="en-US" sz="1300" dirty="0"/>
          </a:p>
        </p:txBody>
      </p:sp>
      <p:sp>
        <p:nvSpPr>
          <p:cNvPr id="20" name="phase-5"/>
          <p:cNvSpPr/>
          <p:nvPr/>
        </p:nvSpPr>
        <p:spPr>
          <a:xfrm>
            <a:off x="9677095" y="1600200"/>
            <a:ext cx="1965960" cy="914400"/>
          </a:xfrm>
          <a:prstGeom prst="chevron">
            <a:avLst/>
          </a:prstGeom>
          <a:solidFill>
            <a:srgbClr val="162E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088575" y="1600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Evaluation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200">
                <a:solidFill>
                  <a:schemeClr val="bg1"/>
                </a:solidFill>
              </a:rPr>
              <a:t>Oct 10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951415" y="2651760"/>
            <a:ext cx="173425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1"/>
                </a:solidFill>
              </a:rPr>
              <a:t>Report and submission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60699" y="3872753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Waterfall</a:t>
            </a:r>
            <a:endParaRPr lang="en-US" sz="1800" dirty="0"/>
          </a:p>
        </p:txBody>
      </p:sp>
      <p:sp>
        <p:nvSpPr>
          <p:cNvPr id="28" name="why-0"/>
          <p:cNvSpPr/>
          <p:nvPr/>
        </p:nvSpPr>
        <p:spPr>
          <a:xfrm>
            <a:off x="660699" y="4329953"/>
            <a:ext cx="3515258" cy="1280160"/>
          </a:xfrm>
          <a:prstGeom prst="roundRect">
            <a:avLst>
              <a:gd name="adj" fmla="val 7143"/>
            </a:avLst>
          </a:prstGeom>
          <a:noFill/>
          <a:ln w="12700">
            <a:noFill/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9299" y="4467113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Fixed requirements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The assignment defines the required components up front.</a:t>
            </a:r>
            <a:endParaRPr lang="en-US" sz="1400" dirty="0"/>
          </a:p>
        </p:txBody>
      </p:sp>
      <p:sp>
        <p:nvSpPr>
          <p:cNvPr id="30" name="why-1"/>
          <p:cNvSpPr/>
          <p:nvPr/>
        </p:nvSpPr>
        <p:spPr>
          <a:xfrm>
            <a:off x="4450277" y="4329953"/>
            <a:ext cx="3515258" cy="1280160"/>
          </a:xfrm>
          <a:prstGeom prst="roundRect">
            <a:avLst>
              <a:gd name="adj" fmla="val 7143"/>
            </a:avLst>
          </a:prstGeom>
          <a:noFill/>
          <a:ln w="12700">
            <a:noFill/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678877" y="4467113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Short, fixed deadline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Five days leaves no room for repeated full iterations.</a:t>
            </a:r>
            <a:endParaRPr lang="en-US" sz="1400" dirty="0"/>
          </a:p>
        </p:txBody>
      </p:sp>
      <p:sp>
        <p:nvSpPr>
          <p:cNvPr id="32" name="why-2"/>
          <p:cNvSpPr/>
          <p:nvPr/>
        </p:nvSpPr>
        <p:spPr>
          <a:xfrm>
            <a:off x="8239856" y="4329953"/>
            <a:ext cx="3515258" cy="1280160"/>
          </a:xfrm>
          <a:prstGeom prst="roundRect">
            <a:avLst>
              <a:gd name="adj" fmla="val 7143"/>
            </a:avLst>
          </a:prstGeom>
          <a:noFill/>
          <a:ln w="12700">
            <a:noFill/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468456" y="4467113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Matches the report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Each phase maps to a section of this report.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>
                <a:latin typeface="Cambria"/>
                <a:ea typeface="Cambria"/>
              </a:rPr>
              <a:t>Objectives:</a:t>
            </a:r>
            <a:endParaRPr lang="en-US"/>
          </a:p>
        </p:txBody>
      </p:sp>
      <p:sp>
        <p:nvSpPr>
          <p:cNvPr id="5" name="icon-bg-MdWbSunny"/>
          <p:cNvSpPr/>
          <p:nvPr/>
        </p:nvSpPr>
        <p:spPr>
          <a:xfrm>
            <a:off x="548640" y="15544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-MdWbSunny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8" y="1695298"/>
            <a:ext cx="358445" cy="35844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53619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Accurate weather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Current conditions and a 7-day forecast for any city the user searches for.</a:t>
            </a:r>
            <a:endParaRPr lang="en-US" sz="1500" dirty="0"/>
          </a:p>
        </p:txBody>
      </p:sp>
      <p:sp>
        <p:nvSpPr>
          <p:cNvPr id="8" name="icon-bg-MdShowChart"/>
          <p:cNvSpPr/>
          <p:nvPr/>
        </p:nvSpPr>
        <p:spPr>
          <a:xfrm>
            <a:off x="548640" y="2468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con-MdShowChart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8" y="2609698"/>
            <a:ext cx="358445" cy="358445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17320" y="245059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Visual data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Three charts: 24-hour temperature, 7-day high/low, and chance of rain.</a:t>
            </a:r>
            <a:endParaRPr lang="en-US" sz="1500" dirty="0"/>
          </a:p>
        </p:txBody>
      </p:sp>
      <p:sp>
        <p:nvSpPr>
          <p:cNvPr id="11" name="icon-bg-MdStar"/>
          <p:cNvSpPr/>
          <p:nvPr/>
        </p:nvSpPr>
        <p:spPr>
          <a:xfrm>
            <a:off x="548640" y="33832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417320" y="336499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Favorites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Save cities and switch between them in one tap.</a:t>
            </a:r>
            <a:endParaRPr lang="en-US" sz="1500" dirty="0"/>
          </a:p>
        </p:txBody>
      </p:sp>
      <p:sp>
        <p:nvSpPr>
          <p:cNvPr id="14" name="icon-bg-MdWifiOff"/>
          <p:cNvSpPr/>
          <p:nvPr/>
        </p:nvSpPr>
        <p:spPr>
          <a:xfrm>
            <a:off x="548640" y="42976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1417320" y="427939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Works offline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Shows the last saved forecast when there is no internet.</a:t>
            </a:r>
            <a:endParaRPr lang="en-US" sz="1500" dirty="0"/>
          </a:p>
        </p:txBody>
      </p:sp>
      <p:sp>
        <p:nvSpPr>
          <p:cNvPr id="17" name="icon-bg-MdTimeline"/>
          <p:cNvSpPr/>
          <p:nvPr/>
        </p:nvSpPr>
        <p:spPr>
          <a:xfrm>
            <a:off x="548640" y="52120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417320" y="5193792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Follow the SDLC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Document each phase in this report.</a:t>
            </a:r>
            <a:endParaRPr lang="en-US" sz="15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30228DE-6F29-C95E-AC77-BD711D7BAF1A}"/>
              </a:ext>
            </a:extLst>
          </p:cNvPr>
          <p:cNvSpPr txBox="1"/>
          <p:nvPr/>
        </p:nvSpPr>
        <p:spPr>
          <a:xfrm>
            <a:off x="691007" y="1684695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8D5EE5-7C07-09C4-8923-DCC3975EED25}"/>
              </a:ext>
            </a:extLst>
          </p:cNvPr>
          <p:cNvSpPr txBox="1"/>
          <p:nvPr/>
        </p:nvSpPr>
        <p:spPr>
          <a:xfrm>
            <a:off x="689203" y="2619861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572A93-27AA-3E95-4F71-D86CC4CBBFD5}"/>
              </a:ext>
            </a:extLst>
          </p:cNvPr>
          <p:cNvSpPr txBox="1"/>
          <p:nvPr/>
        </p:nvSpPr>
        <p:spPr>
          <a:xfrm>
            <a:off x="689203" y="352753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3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9789C7-6BE0-7792-BE46-BEF488C36E4E}"/>
              </a:ext>
            </a:extLst>
          </p:cNvPr>
          <p:cNvSpPr txBox="1"/>
          <p:nvPr/>
        </p:nvSpPr>
        <p:spPr>
          <a:xfrm>
            <a:off x="689202" y="4435213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246EF2-2896-3259-C7D7-D58D5B29A6C1}"/>
              </a:ext>
            </a:extLst>
          </p:cNvPr>
          <p:cNvSpPr txBox="1"/>
          <p:nvPr/>
        </p:nvSpPr>
        <p:spPr>
          <a:xfrm>
            <a:off x="689203" y="5354096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functional requirements, 13 built</a:t>
            </a:r>
            <a:endParaRPr lang="en-US" sz="3200" dirty="0"/>
          </a:p>
        </p:txBody>
      </p:sp>
      <p:sp>
        <p:nvSpPr>
          <p:cNvPr id="5" name="fr-Must"/>
          <p:cNvSpPr/>
          <p:nvPr/>
        </p:nvSpPr>
        <p:spPr>
          <a:xfrm>
            <a:off x="548640" y="1554480"/>
            <a:ext cx="4069080" cy="3657600"/>
          </a:xfrm>
          <a:prstGeom prst="roundRect">
            <a:avLst>
              <a:gd name="adj" fmla="val 2500"/>
            </a:avLst>
          </a:prstGeom>
          <a:noFill/>
          <a:ln w="12700">
            <a:noFill/>
            <a:prstDash val="solid"/>
          </a:ln>
        </p:spPr>
      </p:sp>
      <p:sp>
        <p:nvSpPr>
          <p:cNvPr id="6" name="chip-Must"/>
          <p:cNvSpPr/>
          <p:nvPr/>
        </p:nvSpPr>
        <p:spPr>
          <a:xfrm>
            <a:off x="777240" y="1737360"/>
            <a:ext cx="1005840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7373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Must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FR-01  </a:t>
            </a:r>
            <a:r>
              <a:rPr lang="en-US" sz="1400" dirty="0"/>
              <a:t>Current conditions for the selected city</a:t>
            </a:r>
          </a:p>
          <a:p>
            <a:pPr>
              <a:spcAft>
                <a:spcPts val="900"/>
              </a:spcAft>
            </a:pPr>
            <a:r>
              <a:rPr lang="en-US" sz="1400" b="1" dirty="0">
                <a:solidFill>
                  <a:srgbClr val="0F2A44"/>
                </a:solidFill>
              </a:rPr>
              <a:t>FR-02  </a:t>
            </a:r>
            <a:r>
              <a:rPr lang="en-US" sz="1400" dirty="0"/>
              <a:t>24-hour temperature line chart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FR-03  </a:t>
            </a:r>
            <a:r>
              <a:rPr lang="en-US" sz="1400" dirty="0"/>
              <a:t>7-day high/low line chart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FR-04  </a:t>
            </a:r>
            <a:r>
              <a:rPr lang="en-US" sz="1400" dirty="0"/>
              <a:t>7-day chance-of-rain bar chart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FR-05  </a:t>
            </a:r>
            <a:r>
              <a:rPr lang="en-US" sz="1400" dirty="0"/>
              <a:t>7-day daily list</a:t>
            </a:r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FR-06  </a:t>
            </a:r>
            <a:r>
              <a:rPr lang="en-US" sz="1400" dirty="0"/>
              <a:t>Search cities by name</a:t>
            </a:r>
          </a:p>
          <a:p>
            <a:pPr>
              <a:spcAft>
                <a:spcPts val="900"/>
              </a:spcAft>
            </a:pPr>
            <a:r>
              <a:rPr lang="en-US" sz="1400" b="1" dirty="0">
                <a:solidFill>
                  <a:srgbClr val="0F2A44"/>
                </a:solidFill>
              </a:rPr>
              <a:t>FR-13  </a:t>
            </a:r>
            <a:r>
              <a:rPr lang="en-US" sz="1400" dirty="0"/>
              <a:t>Clear error and empty-state messages</a:t>
            </a:r>
          </a:p>
        </p:txBody>
      </p:sp>
      <p:sp>
        <p:nvSpPr>
          <p:cNvPr id="9" name="fr-Should"/>
          <p:cNvSpPr/>
          <p:nvPr/>
        </p:nvSpPr>
        <p:spPr>
          <a:xfrm>
            <a:off x="4892040" y="1554480"/>
            <a:ext cx="4069080" cy="3657600"/>
          </a:xfrm>
          <a:prstGeom prst="roundRect">
            <a:avLst>
              <a:gd name="adj" fmla="val 2500"/>
            </a:avLst>
          </a:prstGeom>
          <a:noFill/>
          <a:ln w="12700">
            <a:noFill/>
            <a:prstDash val="solid"/>
          </a:ln>
        </p:spPr>
      </p:sp>
      <p:sp>
        <p:nvSpPr>
          <p:cNvPr id="10" name="chip-Should"/>
          <p:cNvSpPr/>
          <p:nvPr/>
        </p:nvSpPr>
        <p:spPr>
          <a:xfrm>
            <a:off x="5120640" y="1737360"/>
            <a:ext cx="100584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0" y="17373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Should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224028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FR-07  </a:t>
            </a:r>
            <a:r>
              <a:rPr lang="en-US" sz="1400" dirty="0">
                <a:solidFill>
                  <a:schemeClr val="tx1"/>
                </a:solidFill>
              </a:rPr>
              <a:t>Save or unsave the current city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FR-08  </a:t>
            </a:r>
            <a:r>
              <a:rPr lang="en-US" sz="1400" dirty="0">
                <a:solidFill>
                  <a:schemeClr val="tx1"/>
                </a:solidFill>
              </a:rPr>
              <a:t>Favorites list: tap to open, delete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FR-09  </a:t>
            </a:r>
            <a:r>
              <a:rPr lang="en-US" sz="1400" dirty="0">
                <a:solidFill>
                  <a:schemeClr val="tx1"/>
                </a:solidFill>
              </a:rPr>
              <a:t>°F + mph or °C + km/h, remembered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FR-10  </a:t>
            </a:r>
            <a:r>
              <a:rPr lang="en-US" sz="1400" dirty="0">
                <a:solidFill>
                  <a:schemeClr val="tx1"/>
                </a:solidFill>
              </a:rPr>
              <a:t>Reopen on the last city viewed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FR-11  </a:t>
            </a:r>
            <a:r>
              <a:rPr lang="en-US" sz="1400" dirty="0">
                <a:solidFill>
                  <a:schemeClr val="tx1"/>
                </a:solidFill>
              </a:rPr>
              <a:t>Pull-to-refresh and Refresh button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FR-12  </a:t>
            </a:r>
            <a:r>
              <a:rPr lang="en-US" sz="1400" dirty="0">
                <a:solidFill>
                  <a:schemeClr val="tx1"/>
                </a:solidFill>
              </a:rPr>
              <a:t>Offline: last saved forecast</a:t>
            </a:r>
            <a:endParaRPr lang="en-US" sz="1400" dirty="0"/>
          </a:p>
        </p:txBody>
      </p:sp>
      <p:sp>
        <p:nvSpPr>
          <p:cNvPr id="13" name="fr-Could"/>
          <p:cNvSpPr/>
          <p:nvPr/>
        </p:nvSpPr>
        <p:spPr>
          <a:xfrm>
            <a:off x="9235440" y="1554480"/>
            <a:ext cx="2404872" cy="3657600"/>
          </a:xfrm>
          <a:prstGeom prst="roundRect">
            <a:avLst>
              <a:gd name="adj" fmla="val 3802"/>
            </a:avLst>
          </a:prstGeom>
          <a:noFill/>
          <a:ln w="12700">
            <a:noFill/>
            <a:prstDash val="solid"/>
          </a:ln>
        </p:spPr>
      </p:sp>
      <p:sp>
        <p:nvSpPr>
          <p:cNvPr id="14" name="chip-Could"/>
          <p:cNvSpPr/>
          <p:nvPr/>
        </p:nvSpPr>
        <p:spPr>
          <a:xfrm>
            <a:off x="9464040" y="1737360"/>
            <a:ext cx="100584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64040" y="173736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Could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464040" y="2240280"/>
            <a:ext cx="199339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FR-14  </a:t>
            </a:r>
            <a:r>
              <a:rPr lang="en-US" sz="1400" dirty="0">
                <a:solidFill>
                  <a:schemeClr val="tx1"/>
                </a:solidFill>
              </a:rPr>
              <a:t>Nearest city from location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0F2A44"/>
                </a:solidFill>
              </a:rPr>
              <a:t>FR-15  </a:t>
            </a:r>
            <a:r>
              <a:rPr lang="en-US" sz="1400" dirty="0">
                <a:solidFill>
                  <a:schemeClr val="tx1"/>
                </a:solidFill>
              </a:rPr>
              <a:t>Daily weather notification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464040" y="32918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Stretch goals, not built: moved to future work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non-functional requirements</a:t>
            </a:r>
            <a:endParaRPr lang="en-US" sz="3200" dirty="0"/>
          </a:p>
        </p:txBody>
      </p:sp>
      <p:sp>
        <p:nvSpPr>
          <p:cNvPr id="5" name="nfr-0"/>
          <p:cNvSpPr/>
          <p:nvPr/>
        </p:nvSpPr>
        <p:spPr>
          <a:xfrm>
            <a:off x="548640" y="155448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6" name="icon-bg-MdSpeed"/>
          <p:cNvSpPr/>
          <p:nvPr/>
        </p:nvSpPr>
        <p:spPr>
          <a:xfrm>
            <a:off x="777240" y="182880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554480" y="175564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Performance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Weather appears within 3 seconds</a:t>
            </a:r>
            <a:endParaRPr lang="en-US" sz="1400" dirty="0"/>
          </a:p>
        </p:txBody>
      </p:sp>
      <p:sp>
        <p:nvSpPr>
          <p:cNvPr id="10" name="nfr-1"/>
          <p:cNvSpPr/>
          <p:nvPr/>
        </p:nvSpPr>
        <p:spPr>
          <a:xfrm>
            <a:off x="4338218" y="155448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11" name="icon-bg-MdSync"/>
          <p:cNvSpPr/>
          <p:nvPr/>
        </p:nvSpPr>
        <p:spPr>
          <a:xfrm>
            <a:off x="4566818" y="182880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344058" y="175564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Responsiveness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Network and database work off the UI thread</a:t>
            </a:r>
            <a:endParaRPr lang="en-US" sz="1400" dirty="0"/>
          </a:p>
        </p:txBody>
      </p:sp>
      <p:sp>
        <p:nvSpPr>
          <p:cNvPr id="15" name="nfr-2"/>
          <p:cNvSpPr/>
          <p:nvPr/>
        </p:nvSpPr>
        <p:spPr>
          <a:xfrm>
            <a:off x="8127797" y="155448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16" name="icon-bg-MdScreenRotation"/>
          <p:cNvSpPr/>
          <p:nvPr/>
        </p:nvSpPr>
        <p:spPr>
          <a:xfrm>
            <a:off x="8356397" y="182880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133637" y="175564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Reliability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No crash offline, on API errors or rotation</a:t>
            </a:r>
            <a:endParaRPr lang="en-US" sz="1400" dirty="0"/>
          </a:p>
        </p:txBody>
      </p:sp>
      <p:sp>
        <p:nvSpPr>
          <p:cNvPr id="20" name="nfr-3"/>
          <p:cNvSpPr/>
          <p:nvPr/>
        </p:nvSpPr>
        <p:spPr>
          <a:xfrm>
            <a:off x="548640" y="310896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21" name="icon-bg-MdTouchApp"/>
          <p:cNvSpPr/>
          <p:nvPr/>
        </p:nvSpPr>
        <p:spPr>
          <a:xfrm>
            <a:off x="777240" y="33832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1554480" y="331012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Usability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feature within 2 taps of Today</a:t>
            </a:r>
            <a:endParaRPr lang="en-US" sz="1400" dirty="0"/>
          </a:p>
        </p:txBody>
      </p:sp>
      <p:sp>
        <p:nvSpPr>
          <p:cNvPr id="25" name="nfr-4"/>
          <p:cNvSpPr/>
          <p:nvPr/>
        </p:nvSpPr>
        <p:spPr>
          <a:xfrm>
            <a:off x="4338218" y="310896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26" name="icon-bg-MdPhoneAndroid"/>
          <p:cNvSpPr/>
          <p:nvPr/>
        </p:nvSpPr>
        <p:spPr>
          <a:xfrm>
            <a:off x="4566818" y="33832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5344058" y="331012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Compatibility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Android 6.0 (API 23)+, portrait and landscape</a:t>
            </a:r>
            <a:endParaRPr lang="en-US" sz="1400" dirty="0"/>
          </a:p>
        </p:txBody>
      </p:sp>
      <p:sp>
        <p:nvSpPr>
          <p:cNvPr id="30" name="nfr-5"/>
          <p:cNvSpPr/>
          <p:nvPr/>
        </p:nvSpPr>
        <p:spPr>
          <a:xfrm>
            <a:off x="8127797" y="310896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31" name="icon-bg-MdLock"/>
          <p:cNvSpPr/>
          <p:nvPr/>
        </p:nvSpPr>
        <p:spPr>
          <a:xfrm>
            <a:off x="8356397" y="33832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9133637" y="331012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Security &amp; privacy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HTTPS only, no key or account, 2 permissions</a:t>
            </a:r>
            <a:endParaRPr lang="en-US" sz="1400" dirty="0"/>
          </a:p>
        </p:txBody>
      </p:sp>
      <p:sp>
        <p:nvSpPr>
          <p:cNvPr id="35" name="nfr-6"/>
          <p:cNvSpPr/>
          <p:nvPr/>
        </p:nvSpPr>
        <p:spPr>
          <a:xfrm>
            <a:off x="548640" y="466344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36" name="icon-bg-MdBuild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1554480" y="486460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Maintainability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data / ui / view / util packages, classes commented</a:t>
            </a:r>
            <a:endParaRPr lang="en-US" sz="1400" dirty="0"/>
          </a:p>
        </p:txBody>
      </p:sp>
      <p:sp>
        <p:nvSpPr>
          <p:cNvPr id="40" name="nfr-7"/>
          <p:cNvSpPr/>
          <p:nvPr/>
        </p:nvSpPr>
        <p:spPr>
          <a:xfrm>
            <a:off x="4338218" y="466344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41" name="icon-bg-MdAccessibility"/>
          <p:cNvSpPr/>
          <p:nvPr/>
        </p:nvSpPr>
        <p:spPr>
          <a:xfrm>
            <a:off x="4566818" y="4937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5344058" y="486460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Accessibility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Content descriptions, sp text, labeled charts</a:t>
            </a:r>
            <a:endParaRPr lang="en-US" sz="1400" dirty="0"/>
          </a:p>
        </p:txBody>
      </p:sp>
      <p:sp>
        <p:nvSpPr>
          <p:cNvPr id="45" name="nfr-8"/>
          <p:cNvSpPr/>
          <p:nvPr/>
        </p:nvSpPr>
        <p:spPr>
          <a:xfrm>
            <a:off x="8127797" y="4663440"/>
            <a:ext cx="3515258" cy="1325880"/>
          </a:xfrm>
          <a:prstGeom prst="roundRect">
            <a:avLst>
              <a:gd name="adj" fmla="val 6897"/>
            </a:avLst>
          </a:prstGeom>
          <a:noFill/>
          <a:ln w="12700">
            <a:noFill/>
            <a:prstDash val="solid"/>
          </a:ln>
        </p:spPr>
      </p:sp>
      <p:sp>
        <p:nvSpPr>
          <p:cNvPr id="46" name="icon-bg-MdStorage"/>
          <p:cNvSpPr/>
          <p:nvPr/>
        </p:nvSpPr>
        <p:spPr>
          <a:xfrm>
            <a:off x="8356397" y="493776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9" name="Text 37"/>
          <p:cNvSpPr txBox="1"/>
          <p:nvPr/>
        </p:nvSpPr>
        <p:spPr>
          <a:xfrm>
            <a:off x="9133637" y="4864608"/>
            <a:ext cx="23265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Storage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One cached forecast per city, replaced on refresh</a:t>
            </a:r>
            <a:endParaRPr 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AADBD0-335E-6EE3-637C-C6DD63D1C38F}"/>
              </a:ext>
            </a:extLst>
          </p:cNvPr>
          <p:cNvSpPr txBox="1"/>
          <p:nvPr/>
        </p:nvSpPr>
        <p:spPr>
          <a:xfrm>
            <a:off x="937536" y="1931224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E04D69-5DBC-8014-FD48-85D53C292793}"/>
              </a:ext>
            </a:extLst>
          </p:cNvPr>
          <p:cNvSpPr txBox="1"/>
          <p:nvPr/>
        </p:nvSpPr>
        <p:spPr>
          <a:xfrm>
            <a:off x="937536" y="3488842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2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637202-F41D-9985-CDD7-E6D8766E95BF}"/>
              </a:ext>
            </a:extLst>
          </p:cNvPr>
          <p:cNvSpPr txBox="1"/>
          <p:nvPr/>
        </p:nvSpPr>
        <p:spPr>
          <a:xfrm>
            <a:off x="937536" y="5035254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A665DD1-BA29-630C-CB19-9F654B37A726}"/>
              </a:ext>
            </a:extLst>
          </p:cNvPr>
          <p:cNvSpPr txBox="1"/>
          <p:nvPr/>
        </p:nvSpPr>
        <p:spPr>
          <a:xfrm>
            <a:off x="4725124" y="1931224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4</a:t>
            </a:r>
            <a:endParaRPr lang="en-US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25754A-48F6-2FA7-7A52-30750B630F7D}"/>
              </a:ext>
            </a:extLst>
          </p:cNvPr>
          <p:cNvSpPr txBox="1"/>
          <p:nvPr/>
        </p:nvSpPr>
        <p:spPr>
          <a:xfrm>
            <a:off x="4725125" y="3488842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8DC88B7-7054-6285-9CB2-ADA7C7BA31F7}"/>
              </a:ext>
            </a:extLst>
          </p:cNvPr>
          <p:cNvSpPr txBox="1"/>
          <p:nvPr/>
        </p:nvSpPr>
        <p:spPr>
          <a:xfrm>
            <a:off x="4725125" y="5035254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51E9B0-842C-2251-1836-97CDB1CF4C25}"/>
              </a:ext>
            </a:extLst>
          </p:cNvPr>
          <p:cNvSpPr txBox="1"/>
          <p:nvPr/>
        </p:nvSpPr>
        <p:spPr>
          <a:xfrm>
            <a:off x="8523919" y="1931224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7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F483196-1B86-2E57-516A-0BBAFF6C0239}"/>
              </a:ext>
            </a:extLst>
          </p:cNvPr>
          <p:cNvSpPr txBox="1"/>
          <p:nvPr/>
        </p:nvSpPr>
        <p:spPr>
          <a:xfrm>
            <a:off x="8523919" y="3488842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99FB2C-647D-D6C8-2B51-49DF988D44C4}"/>
              </a:ext>
            </a:extLst>
          </p:cNvPr>
          <p:cNvSpPr txBox="1"/>
          <p:nvPr/>
        </p:nvSpPr>
        <p:spPr>
          <a:xfrm>
            <a:off x="8523919" y="5035254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latin typeface="Cambria"/>
                <a:ea typeface="Cambria"/>
              </a:rPr>
              <a:t>Platform and UI</a:t>
            </a:r>
            <a:endParaRPr lang="en-US" sz="3200">
              <a:latin typeface="Cambria"/>
              <a:ea typeface="Cambria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7142584"/>
              </p:ext>
            </p:extLst>
          </p:nvPr>
        </p:nvGraphicFramePr>
        <p:xfrm>
          <a:off x="548640" y="1600200"/>
          <a:ext cx="11094415" cy="434340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1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Decision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Chosen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Alternatives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Why chosen (pros)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Trade-off (cons)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Platform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Native Android, Java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Kotlin; Flutter; React Native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Matches the course's working build; full access to Android APIs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More boilerplate than Kotlin; Android only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UI toolkit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XML layouts, support library 23.0.1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Jetpack Compose; AndroidX + Material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Fragments are required; builds with Android Gradle Plugin 3.1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Older widgets and styling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Navigation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TabLayout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 + 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ViewPager</a:t>
                      </a:r>
                      <a:endParaRPr lang="en-US" sz="1400" dirty="0">
                        <a:solidFill>
                          <a:srgbClr val="1B2430"/>
                        </a:solidFill>
                      </a:endParaRP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Bottom navigation; Navigation component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Available in design library 23.0.1; swipe between tabs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Bottom navigation isn't available at this version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Weather data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Open-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Meteo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 API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OpenWeatherMap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; WeatherAPI.com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Free, HTTPS, no API key or account; forecast and city search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Depends on a third-party service staying free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latin typeface="Cambria"/>
                <a:ea typeface="Cambria"/>
              </a:rPr>
              <a:t>Data and charts</a:t>
            </a:r>
            <a:endParaRPr lang="en-US" sz="3200">
              <a:latin typeface="Cambria"/>
              <a:ea typeface="Cambria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140202"/>
              </p:ext>
            </p:extLst>
          </p:nvPr>
        </p:nvGraphicFramePr>
        <p:xfrm>
          <a:off x="548640" y="1600200"/>
          <a:ext cx="11094415" cy="434340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61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Decision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Chosen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Alternatives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Why chosen (pros)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Trade-off (cons)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Networking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HttpURLConnection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 + 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org.json</a:t>
                      </a:r>
                      <a:endParaRPr lang="en-US" sz="1400" dirty="0">
                        <a:solidFill>
                          <a:srgbClr val="1B2430"/>
                        </a:solidFill>
                      </a:endParaRP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Retrofit + 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Gson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; Volley; 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OkHttp</a:t>
                      </a:r>
                      <a:endParaRPr lang="en-US" sz="1400" dirty="0">
                        <a:solidFill>
                          <a:srgbClr val="1B2430"/>
                        </a:solidFill>
                      </a:endParaRP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Built into Android; no new dependencies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URLs and JSON parsing written by hand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Storage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SQLiteOpenHelper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 + 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SharedPreferences</a:t>
                      </a:r>
                      <a:endParaRPr lang="en-US" sz="1400" dirty="0">
                        <a:solidFill>
                          <a:srgbClr val="1B2430"/>
                        </a:solidFill>
                      </a:endParaRP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Room; Firebase; plain files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Built in; works offline; no account or setup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Hand-written SQL and cursor code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Charts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Custom Canvas view (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SimpleChartView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)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MPAndroidChart</a:t>
                      </a: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; GraphView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No library allowed; full control of look and labels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No zoom or tap-for-value; more code to test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Background work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AsyncTask</a:t>
                      </a:r>
                      <a:endParaRPr lang="en-US" sz="1400" dirty="0">
                        <a:solidFill>
                          <a:srgbClr val="1B2430"/>
                        </a:solidFill>
                      </a:endParaRP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Thread + Handler; Executors; </a:t>
                      </a:r>
                      <a:r>
                        <a:rPr lang="en-US" sz="1400" dirty="0" err="1">
                          <a:solidFill>
                            <a:srgbClr val="1B2430"/>
                          </a:solidFill>
                        </a:rPr>
                        <a:t>RxJava</a:t>
                      </a:r>
                      <a:endParaRPr lang="en-US" sz="1400" dirty="0">
                        <a:solidFill>
                          <a:srgbClr val="1B2430"/>
                        </a:solidFill>
                      </a:endParaRP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Part of API 23; results arrive on the UI thread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430"/>
                          </a:solidFill>
                        </a:rPr>
                        <a:t>Deprecated in later Android; must cancel by hand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latin typeface="Cambria"/>
                <a:ea typeface="Cambria"/>
              </a:rPr>
              <a:t>System diagram</a:t>
            </a:r>
            <a:endParaRPr lang="en-US" sz="3200">
              <a:latin typeface="Cambria"/>
              <a:ea typeface="Cambria"/>
            </a:endParaRPr>
          </a:p>
        </p:txBody>
      </p:sp>
      <p:pic>
        <p:nvPicPr>
          <p:cNvPr id="5" name="architecture" descr="/tmp/claude-0/-home-claude/20a089d5-3b90-5b57-ab41-0a031dc49545/scratchpad/proj/SkyCast-CS533-Solo-Project/docs/diagrams/SkyCas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287" y="1945413"/>
            <a:ext cx="7863840" cy="38107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latin typeface="Cambria"/>
                <a:ea typeface="Cambria"/>
              </a:rPr>
              <a:t>Use cases</a:t>
            </a:r>
            <a:endParaRPr lang="en-US" sz="3200">
              <a:latin typeface="Cambria"/>
              <a:ea typeface="Cambria"/>
            </a:endParaRPr>
          </a:p>
        </p:txBody>
      </p:sp>
      <p:pic>
        <p:nvPicPr>
          <p:cNvPr id="5" name="usecases" descr="/tmp/claude-0/-home-claude/20a089d5-3b90-5b57-ab41-0a031dc49545/scratchpad/proj/SkyCast-CS533-Solo-Project/docs/diagrams/SkyCast_UseC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21641"/>
            <a:ext cx="11094415" cy="45462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latin typeface="Cambria"/>
                <a:ea typeface="Cambria"/>
              </a:rPr>
              <a:t>Screen flow</a:t>
            </a:r>
            <a:endParaRPr lang="en-US" sz="3200">
              <a:latin typeface="Cambria"/>
              <a:ea typeface="Cambria"/>
            </a:endParaRPr>
          </a:p>
        </p:txBody>
      </p:sp>
      <p:pic>
        <p:nvPicPr>
          <p:cNvPr id="5" name="screenflow" descr="/tmp/claude-0/-home-claude/20a089d5-3b90-5b57-ab41-0a031dc49545/scratchpad/proj/SkyCast-CS533-Solo-Project/docs/diagrams/SkyCast_Screen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640" y="1615117"/>
            <a:ext cx="5760720" cy="47877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Risks, trade-offs and limits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1208"/>
              </p:ext>
            </p:extLst>
          </p:nvPr>
        </p:nvGraphicFramePr>
        <p:xfrm>
          <a:off x="548640" y="1600200"/>
          <a:ext cx="11094415" cy="4453128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36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Item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Type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Impact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Solution or decision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Open-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</a:rPr>
                        <a:t>Meteo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 outage or slow network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Risk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No fresh weather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Network first with SQLite cache fallback; 10-second timeouts; clear message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Fixed old toolchain (AGP 3.1, API 23)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Constraint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No modern libraries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Wrote networking, storage and charts by hand; kept the build identical to a working project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 err="1">
                          <a:solidFill>
                            <a:srgbClr val="000000"/>
                          </a:solidFill>
                        </a:rPr>
                        <a:t>AsyncTask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 deprecated in later Android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Trade-off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Future maintenance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Fine on API 23; replace with Executors when upgrading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Cache only covers cities already loaded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Limit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New city offline shows an error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Message says there's no internet; cache refreshes on every successful load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Emoji weather icons vary by phone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Limit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Icons look different per device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Text description shown with every icon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Custom charts are static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Trade-off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No zoom or tap-for-value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Values printed on the 7-day charts; daily list shows exact numbers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2,366 lines of Java in four packages</a:t>
            </a:r>
            <a:endParaRPr lang="en-US" sz="3200" dirty="0"/>
          </a:p>
        </p:txBody>
      </p:sp>
      <p:sp>
        <p:nvSpPr>
          <p:cNvPr id="5" name="pkg-0"/>
          <p:cNvSpPr/>
          <p:nvPr/>
        </p:nvSpPr>
        <p:spPr>
          <a:xfrm>
            <a:off x="548640" y="1554480"/>
            <a:ext cx="11094415" cy="1005840"/>
          </a:xfrm>
          <a:prstGeom prst="roundRect">
            <a:avLst>
              <a:gd name="adj" fmla="val 9091"/>
            </a:avLst>
          </a:prstGeom>
          <a:noFill/>
          <a:ln w="12700">
            <a:noFill/>
            <a:prstDash val="solid"/>
          </a:ln>
        </p:spPr>
      </p:sp>
      <p:sp>
        <p:nvSpPr>
          <p:cNvPr id="6" name="icon-bg-MdPhoneAndroid"/>
          <p:cNvSpPr/>
          <p:nvPr/>
        </p:nvSpPr>
        <p:spPr>
          <a:xfrm>
            <a:off x="777240" y="1755648"/>
            <a:ext cx="603504" cy="60350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7" name="icon-MdPhoneAndroid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011" y="1888419"/>
            <a:ext cx="337962" cy="33796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16642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554480" y="2103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11 classes</a:t>
            </a:r>
            <a:endParaRPr lang="en-US" sz="1300" dirty="0"/>
          </a:p>
        </p:txBody>
      </p:sp>
      <p:sp>
        <p:nvSpPr>
          <p:cNvPr id="10" name="bar-0"/>
          <p:cNvSpPr/>
          <p:nvPr/>
        </p:nvSpPr>
        <p:spPr>
          <a:xfrm>
            <a:off x="2926080" y="1901952"/>
            <a:ext cx="2926080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943600" y="1856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1,245 lines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132320" y="1645920"/>
            <a:ext cx="4327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MainActivity, SearchActivity, SettingsActivity, TodayFragment, ForecastFragment, FavoritesFragment, WeatherFragment, adapters, ItemDivider</a:t>
            </a:r>
            <a:endParaRPr lang="en-US" sz="1300" dirty="0"/>
          </a:p>
        </p:txBody>
      </p:sp>
      <p:sp>
        <p:nvSpPr>
          <p:cNvPr id="13" name="pkg-1"/>
          <p:cNvSpPr/>
          <p:nvPr/>
        </p:nvSpPr>
        <p:spPr>
          <a:xfrm>
            <a:off x="548640" y="2697480"/>
            <a:ext cx="11094415" cy="1005840"/>
          </a:xfrm>
          <a:prstGeom prst="roundRect">
            <a:avLst>
              <a:gd name="adj" fmla="val 9091"/>
            </a:avLst>
          </a:prstGeom>
          <a:noFill/>
          <a:ln w="12700">
            <a:noFill/>
            <a:prstDash val="solid"/>
          </a:ln>
        </p:spPr>
      </p:sp>
      <p:sp>
        <p:nvSpPr>
          <p:cNvPr id="14" name="icon-bg-MdStorage"/>
          <p:cNvSpPr/>
          <p:nvPr/>
        </p:nvSpPr>
        <p:spPr>
          <a:xfrm>
            <a:off x="777240" y="2898648"/>
            <a:ext cx="603504" cy="60350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5" name="icon-MdStorage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11" y="3031419"/>
            <a:ext cx="337962" cy="3379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28072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554480" y="3246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10 classes</a:t>
            </a:r>
            <a:endParaRPr lang="en-US" sz="1300" dirty="0"/>
          </a:p>
        </p:txBody>
      </p:sp>
      <p:sp>
        <p:nvSpPr>
          <p:cNvPr id="18" name="bar-1"/>
          <p:cNvSpPr/>
          <p:nvPr/>
        </p:nvSpPr>
        <p:spPr>
          <a:xfrm>
            <a:off x="2926080" y="3044952"/>
            <a:ext cx="1445413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462933" y="2999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615 lines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7132320" y="2788920"/>
            <a:ext cx="4327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WeatherRepository, WeatherApiClient, ForecastParser, DatabaseHelper, SettingsStore, models (City, Forecast, DailyForecast…)</a:t>
            </a:r>
            <a:endParaRPr lang="en-US" sz="1300" dirty="0"/>
          </a:p>
        </p:txBody>
      </p:sp>
      <p:sp>
        <p:nvSpPr>
          <p:cNvPr id="21" name="pkg-2"/>
          <p:cNvSpPr/>
          <p:nvPr/>
        </p:nvSpPr>
        <p:spPr>
          <a:xfrm>
            <a:off x="548640" y="3840480"/>
            <a:ext cx="11094415" cy="1005840"/>
          </a:xfrm>
          <a:prstGeom prst="roundRect">
            <a:avLst>
              <a:gd name="adj" fmla="val 9091"/>
            </a:avLst>
          </a:prstGeom>
          <a:noFill/>
          <a:ln w="12700">
            <a:noFill/>
            <a:prstDash val="solid"/>
          </a:ln>
        </p:spPr>
      </p:sp>
      <p:sp>
        <p:nvSpPr>
          <p:cNvPr id="22" name="icon-bg-MdShowChart"/>
          <p:cNvSpPr/>
          <p:nvPr/>
        </p:nvSpPr>
        <p:spPr>
          <a:xfrm>
            <a:off x="777240" y="4041648"/>
            <a:ext cx="603504" cy="60350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con-MdShowChart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011" y="4174419"/>
            <a:ext cx="337962" cy="33796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54480" y="39502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1554480" y="4389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1 class</a:t>
            </a:r>
            <a:endParaRPr lang="en-US" sz="1300" dirty="0"/>
          </a:p>
        </p:txBody>
      </p:sp>
      <p:sp>
        <p:nvSpPr>
          <p:cNvPr id="26" name="bar-2"/>
          <p:cNvSpPr/>
          <p:nvPr/>
        </p:nvSpPr>
        <p:spPr>
          <a:xfrm>
            <a:off x="2926080" y="4187952"/>
            <a:ext cx="796740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814260" y="4142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339 lines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7132320" y="3931920"/>
            <a:ext cx="4327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SimpleChartView: custom line and bar charts drawn with Canvas</a:t>
            </a:r>
            <a:endParaRPr lang="en-US" sz="1300" dirty="0"/>
          </a:p>
        </p:txBody>
      </p:sp>
      <p:sp>
        <p:nvSpPr>
          <p:cNvPr id="29" name="pkg-3"/>
          <p:cNvSpPr/>
          <p:nvPr/>
        </p:nvSpPr>
        <p:spPr>
          <a:xfrm>
            <a:off x="548640" y="4983480"/>
            <a:ext cx="11094415" cy="1005840"/>
          </a:xfrm>
          <a:prstGeom prst="roundRect">
            <a:avLst>
              <a:gd name="adj" fmla="val 9091"/>
            </a:avLst>
          </a:prstGeom>
          <a:noFill/>
          <a:ln w="12700">
            <a:noFill/>
            <a:prstDash val="solid"/>
          </a:ln>
        </p:spPr>
      </p:sp>
      <p:sp>
        <p:nvSpPr>
          <p:cNvPr id="30" name="icon-bg-MdBuild"/>
          <p:cNvSpPr/>
          <p:nvPr/>
        </p:nvSpPr>
        <p:spPr>
          <a:xfrm>
            <a:off x="777240" y="5184648"/>
            <a:ext cx="603504" cy="603504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1" name="icon-MdBuild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011" y="5317419"/>
            <a:ext cx="337962" cy="337962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554480" y="509320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</a:t>
            </a:r>
            <a:endParaRPr lang="en-US" sz="2000" dirty="0"/>
          </a:p>
        </p:txBody>
      </p:sp>
      <p:sp>
        <p:nvSpPr>
          <p:cNvPr id="33" name="Text 26"/>
          <p:cNvSpPr txBox="1"/>
          <p:nvPr/>
        </p:nvSpPr>
        <p:spPr>
          <a:xfrm>
            <a:off x="1554480" y="5532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3 classes</a:t>
            </a:r>
            <a:endParaRPr lang="en-US" sz="1300" dirty="0"/>
          </a:p>
        </p:txBody>
      </p:sp>
      <p:sp>
        <p:nvSpPr>
          <p:cNvPr id="34" name="bar-3"/>
          <p:cNvSpPr/>
          <p:nvPr/>
        </p:nvSpPr>
        <p:spPr>
          <a:xfrm>
            <a:off x="2926080" y="5330952"/>
            <a:ext cx="392494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3410014" y="5285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167 lines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7132320" y="5074920"/>
            <a:ext cx="4327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WeatherCodes (WMO code → text + icon), Formatters, Units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code: network first, cache fallback</a:t>
            </a:r>
            <a:endParaRPr lang="en-US" sz="3200" dirty="0"/>
          </a:p>
        </p:txBody>
      </p:sp>
      <p:sp>
        <p:nvSpPr>
          <p:cNvPr id="5" name="code-bg"/>
          <p:cNvSpPr/>
          <p:nvPr/>
        </p:nvSpPr>
        <p:spPr>
          <a:xfrm>
            <a:off x="548640" y="1508760"/>
            <a:ext cx="6766560" cy="4663440"/>
          </a:xfrm>
          <a:prstGeom prst="roundRect">
            <a:avLst>
              <a:gd name="adj" fmla="val 19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309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WeatherRepository.java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WeatherResult loadForecast(City city, String units)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try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String json = WeatherApiClient.get(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WeatherApiClient.buildForecastUrl(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city.getLatitude(), city.getLongitude(), units));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Forecast forecast =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ForecastParser.parseForecast(json, units);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long now = System.currentTimeMillis();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database.saveForecast(city.getId(), json, units, now);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new WeatherResult(city, forecast, json,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false, now, 0);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catch (IOException | JSONException e)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loadCachedForecast(city); // offline fallback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k1-0"/>
          <p:cNvSpPr/>
          <p:nvPr/>
        </p:nvSpPr>
        <p:spPr>
          <a:xfrm>
            <a:off x="7589520" y="1508760"/>
            <a:ext cx="4053535" cy="1417320"/>
          </a:xfrm>
          <a:prstGeom prst="roundRect">
            <a:avLst>
              <a:gd name="adj" fmla="val 6452"/>
            </a:avLst>
          </a:prstGeom>
          <a:noFill/>
          <a:ln w="12700">
            <a:noFill/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45920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1. Download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HttpURLConnection, 10 s timeouts, runs in an AsyncTask off the UI thread.</a:t>
            </a:r>
            <a:endParaRPr lang="en-US" sz="1400" dirty="0"/>
          </a:p>
        </p:txBody>
      </p:sp>
      <p:sp>
        <p:nvSpPr>
          <p:cNvPr id="9" name="k1-1"/>
          <p:cNvSpPr/>
          <p:nvPr/>
        </p:nvSpPr>
        <p:spPr>
          <a:xfrm>
            <a:off x="7589520" y="3108960"/>
            <a:ext cx="4053535" cy="1417320"/>
          </a:xfrm>
          <a:prstGeom prst="roundRect">
            <a:avLst>
              <a:gd name="adj" fmla="val 6452"/>
            </a:avLst>
          </a:prstGeom>
          <a:noFill/>
          <a:ln w="12700">
            <a:noFill/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3246120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2. Parse and cache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org.json builds the Forecast; the raw JSON replaces the city's cache row.</a:t>
            </a:r>
            <a:endParaRPr lang="en-US" sz="1400" dirty="0"/>
          </a:p>
        </p:txBody>
      </p:sp>
      <p:sp>
        <p:nvSpPr>
          <p:cNvPr id="11" name="k1-2"/>
          <p:cNvSpPr/>
          <p:nvPr/>
        </p:nvSpPr>
        <p:spPr>
          <a:xfrm>
            <a:off x="7589520" y="4709160"/>
            <a:ext cx="4053535" cy="1417320"/>
          </a:xfrm>
          <a:prstGeom prst="roundRect">
            <a:avLst>
              <a:gd name="adj" fmla="val 6452"/>
            </a:avLst>
          </a:prstGeom>
          <a:noFill/>
          <a:ln w="12700">
            <a:noFill/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4846320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3. Fall back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On failure, the cached JSON is parsed instead and the offline banner shows its time.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code: chart axes that pick their own scale</a:t>
            </a:r>
            <a:endParaRPr lang="en-US" sz="3200" dirty="0"/>
          </a:p>
        </p:txBody>
      </p:sp>
      <p:sp>
        <p:nvSpPr>
          <p:cNvPr id="5" name="code-bg"/>
          <p:cNvSpPr/>
          <p:nvPr/>
        </p:nvSpPr>
        <p:spPr>
          <a:xfrm>
            <a:off x="548640" y="1508760"/>
            <a:ext cx="6766560" cy="4663440"/>
          </a:xfrm>
          <a:prstGeom prst="roundRect">
            <a:avLst>
              <a:gd name="adj" fmla="val 19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30936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SimpleChartView.java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rounds a raw gridline step to 1, 2, 5 or 10 x 10^n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double niceStep(double rawStep)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if (rawStep &lt;= 0 || Double.isNaN(rawStep))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return 1;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double magnitude =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Math.pow(10, Math.floor(Math.log10(rawStep)));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double fraction = rawStep / magnitude;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double nice = (fraction &lt;= 1) ? 1 : (fraction &lt;= 2) ? 2 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(fraction &lt;= 5) ? 5 : 10;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return Math.max(1, nice * magnitude);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converts a data value to a y coordinate in the plot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float toY(double value, double min,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double max, float top, float plotHeight)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return (float) (top + plotHeight *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(1 - (value - min) / (max - min)));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7" name="k2-0"/>
          <p:cNvSpPr/>
          <p:nvPr/>
        </p:nvSpPr>
        <p:spPr>
          <a:xfrm>
            <a:off x="7589520" y="1508760"/>
            <a:ext cx="4053535" cy="1417320"/>
          </a:xfrm>
          <a:prstGeom prst="roundRect">
            <a:avLst>
              <a:gd name="adj" fmla="val 6452"/>
            </a:avLst>
          </a:prstGeom>
          <a:noFill/>
          <a:ln w="12700">
            <a:noFill/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45920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Scales to any view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Every size is computed in onDraw from the view's width and height, in dp and sp.</a:t>
            </a:r>
            <a:endParaRPr lang="en-US" sz="1400" dirty="0"/>
          </a:p>
        </p:txBody>
      </p:sp>
      <p:sp>
        <p:nvSpPr>
          <p:cNvPr id="9" name="k2-1"/>
          <p:cNvSpPr/>
          <p:nvPr/>
        </p:nvSpPr>
        <p:spPr>
          <a:xfrm>
            <a:off x="7589520" y="3108960"/>
            <a:ext cx="4053535" cy="1417320"/>
          </a:xfrm>
          <a:prstGeom prst="roundRect">
            <a:avLst>
              <a:gd name="adj" fmla="val 6452"/>
            </a:avLst>
          </a:prstGeom>
          <a:noFill/>
          <a:ln w="12700">
            <a:noFill/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3246120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Readable labels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X-labels that would overlap are skipped; high/low values print above and below their lines.</a:t>
            </a:r>
            <a:endParaRPr lang="en-US" sz="1400" dirty="0"/>
          </a:p>
        </p:txBody>
      </p:sp>
      <p:sp>
        <p:nvSpPr>
          <p:cNvPr id="11" name="k2-2"/>
          <p:cNvSpPr/>
          <p:nvPr/>
        </p:nvSpPr>
        <p:spPr>
          <a:xfrm>
            <a:off x="7589520" y="4709160"/>
            <a:ext cx="4053535" cy="1417320"/>
          </a:xfrm>
          <a:prstGeom prst="roundRect">
            <a:avLst>
              <a:gd name="adj" fmla="val 6452"/>
            </a:avLst>
          </a:prstGeom>
          <a:noFill/>
          <a:ln w="12700">
            <a:noFill/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0" y="4846320"/>
            <a:ext cx="3687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Handles gaps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Missing (NaN) values leave a break in the line instead of a wrong point.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latin typeface="Cambria"/>
                <a:ea typeface="Cambria"/>
              </a:rPr>
              <a:t>Test cases:</a:t>
            </a:r>
            <a:endParaRPr lang="en-US" sz="3200">
              <a:latin typeface="Cambria"/>
              <a:ea typeface="Cambria"/>
            </a:endParaRPr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161830"/>
              </p:ext>
            </p:extLst>
          </p:nvPr>
        </p:nvGraphicFramePr>
        <p:xfrm>
          <a:off x="548640" y="1554480"/>
          <a:ext cx="11094415" cy="4599432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70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ID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Req.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Steps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Expected result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Result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TC-01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FR-01, 10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Install and open the app fresh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Cape Girardeau weather with every field filled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TC-02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FR-02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Look at the Today tab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24-hour temperature chart with readable labels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TC-03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FR-03–05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Open the Forecast tab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High/low chart, rain chart and 7-day list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TC-04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FR-06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Search "Paris", tap Paris, France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Today tab shows Paris weather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TC-05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FR-13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Search with an empty box, then "</a:t>
                      </a:r>
                      <a:r>
                        <a:rPr lang="en-US" sz="1300" dirty="0" err="1">
                          <a:solidFill>
                            <a:srgbClr val="1B2430"/>
                          </a:solidFill>
                        </a:rPr>
                        <a:t>xyzxyz</a:t>
                      </a: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"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"Please enter a city name", then "No cities found"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TC-06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FR-07, 08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Save Paris, open Favorites, tap it, delete it, tap Undo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Paris listed, opens on tap, removed, then restored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TC-07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FR-09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Choose °C and km/h in Settings, go back, restart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Weather reloads in °C; setting kept after restart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latin typeface="Cambria"/>
                <a:ea typeface="Cambria"/>
              </a:rPr>
              <a:t>Test cases:</a:t>
            </a:r>
            <a:endParaRPr lang="en-US" sz="3200">
              <a:latin typeface="Cambria"/>
              <a:ea typeface="Cambria"/>
            </a:endParaRPr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1782151"/>
              </p:ext>
            </p:extLst>
          </p:nvPr>
        </p:nvGraphicFramePr>
        <p:xfrm>
          <a:off x="548640" y="1554480"/>
          <a:ext cx="11094415" cy="4599432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70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ID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Req.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Steps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Expected result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Result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TC-08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FR-10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View Paris, close the app fully, reopen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Paris shows, not Cape Girardeau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TC-09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FR-11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Pull down on Today; tap Refresh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Data reloads and the "Updated" time changes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TC-10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FR-12, NFR-03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Load a city, turn on airplane mode, reopen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Cached weather with the offline banner, no crash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TC-11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FR-13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Airplane mode, search any city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"No internet connection", no crash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TC-12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NFR-03, 05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Rotate on every screen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Layout adjusts, data stays, no crash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TC-13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NFR-01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Time the load on Wi-Fi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Weather appears in under 3 seconds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TC-14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NFR-02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Tap around while weather loads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430"/>
                          </a:solidFill>
                        </a:rPr>
                        <a:t>No freeze or "App not responding"</a:t>
                      </a:r>
                    </a:p>
                  </a:txBody>
                  <a:tcPr marT="54864" marB="54864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>
                          <a:solidFill>
                            <a:srgbClr val="00B050"/>
                          </a:solidFill>
                        </a:rPr>
                        <a:t>Pass </a:t>
                      </a:r>
                    </a:p>
                  </a:txBody>
                  <a:tcPr marT="54864" marB="5486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err="1">
                <a:latin typeface="Cambria"/>
                <a:ea typeface="Cambria"/>
              </a:rPr>
              <a:t>SkyCast</a:t>
            </a:r>
            <a:r>
              <a:rPr lang="en-US" sz="3200" b="1">
                <a:latin typeface="Cambria"/>
                <a:ea typeface="Cambria"/>
              </a:rPr>
              <a:t> running on a device: </a:t>
            </a:r>
            <a:endParaRPr lang="en-US" sz="3200">
              <a:latin typeface="Cambria"/>
              <a:ea typeface="Cambria"/>
            </a:endParaRPr>
          </a:p>
        </p:txBody>
      </p:sp>
      <p:sp>
        <p:nvSpPr>
          <p:cNvPr id="5" name="slot"/>
          <p:cNvSpPr/>
          <p:nvPr/>
        </p:nvSpPr>
        <p:spPr>
          <a:xfrm>
            <a:off x="1231849" y="1508760"/>
            <a:ext cx="2331720" cy="416052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7529" y="5715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A44"/>
                </a:solidFill>
              </a:rPr>
              <a:t>Today tab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B2430"/>
                </a:solidFill>
              </a:rPr>
              <a:t>Current weather and 24-hour chart</a:t>
            </a:r>
            <a:endParaRPr lang="en-US" sz="1300" dirty="0"/>
          </a:p>
        </p:txBody>
      </p:sp>
      <p:sp>
        <p:nvSpPr>
          <p:cNvPr id="8" name="slot"/>
          <p:cNvSpPr/>
          <p:nvPr/>
        </p:nvSpPr>
        <p:spPr>
          <a:xfrm>
            <a:off x="4929988" y="1508760"/>
            <a:ext cx="2331720" cy="41605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55668" y="5715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A44"/>
                </a:solidFill>
              </a:rPr>
              <a:t>Forecast tab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>
                <a:solidFill>
                  <a:srgbClr val="1B2430"/>
                </a:solidFill>
              </a:rPr>
              <a:t>High/low chart, rain chart</a:t>
            </a:r>
            <a:endParaRPr lang="en-US" sz="1300"/>
          </a:p>
        </p:txBody>
      </p:sp>
      <p:sp>
        <p:nvSpPr>
          <p:cNvPr id="11" name="slot"/>
          <p:cNvSpPr/>
          <p:nvPr/>
        </p:nvSpPr>
        <p:spPr>
          <a:xfrm>
            <a:off x="8628126" y="1508760"/>
            <a:ext cx="2331720" cy="41605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3806" y="5715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F2A44"/>
                </a:solidFill>
              </a:rPr>
              <a:t>Forecast tab</a:t>
            </a:r>
            <a:endParaRPr lang="en-US" sz="1300"/>
          </a:p>
          <a:p>
            <a:pPr algn="ctr"/>
            <a:r>
              <a:rPr lang="en-US" sz="1300">
                <a:solidFill>
                  <a:srgbClr val="1B2430"/>
                </a:solidFill>
              </a:rPr>
              <a:t>7 Day Weather View</a:t>
            </a:r>
            <a:endParaRPr lang="en-US" sz="1300" dirty="0">
              <a:solidFill>
                <a:srgbClr val="1B2430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7126F2D-6E61-F5E3-E01B-CC18904598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247" y="1512793"/>
            <a:ext cx="2333626" cy="415738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A2EFD7-692A-9C81-EB0C-A6D4385DF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188" y="1501590"/>
            <a:ext cx="2333625" cy="416858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A795A69-8EF5-6740-A2D8-5318B2304E0D}"/>
              </a:ext>
            </a:extLst>
          </p:cNvPr>
          <p:cNvSpPr txBox="1"/>
          <p:nvPr/>
        </p:nvSpPr>
        <p:spPr>
          <a:xfrm>
            <a:off x="691007" y="1684695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4E2646-8E0D-203D-B5F9-7C9A14B3B8AA}"/>
              </a:ext>
            </a:extLst>
          </p:cNvPr>
          <p:cNvSpPr txBox="1"/>
          <p:nvPr/>
        </p:nvSpPr>
        <p:spPr>
          <a:xfrm>
            <a:off x="843407" y="1837095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>
                <a:solidFill>
                  <a:schemeClr val="bg1"/>
                </a:solidFill>
                <a:ea typeface="Calibri"/>
                <a:cs typeface="Calibri"/>
              </a:rPr>
              <a:t>1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CE5B2A32-E578-1E7A-CDE5-00E8C49BF7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7129" y="1512793"/>
            <a:ext cx="2333626" cy="415738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err="1">
                <a:latin typeface="Cambria"/>
                <a:ea typeface="Cambria"/>
              </a:rPr>
              <a:t>SkyCast</a:t>
            </a:r>
            <a:r>
              <a:rPr lang="en-US" sz="3200" b="1">
                <a:latin typeface="Cambria"/>
                <a:ea typeface="Cambria"/>
              </a:rPr>
              <a:t> running on a device: </a:t>
            </a:r>
            <a:endParaRPr lang="en-US" sz="3200">
              <a:latin typeface="Cambria"/>
              <a:ea typeface="Cambria"/>
            </a:endParaRPr>
          </a:p>
        </p:txBody>
      </p:sp>
      <p:sp>
        <p:nvSpPr>
          <p:cNvPr id="5" name="slot"/>
          <p:cNvSpPr/>
          <p:nvPr/>
        </p:nvSpPr>
        <p:spPr>
          <a:xfrm>
            <a:off x="1231849" y="1508760"/>
            <a:ext cx="2331720" cy="41605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7529" y="5715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A44"/>
                </a:solidFill>
              </a:rPr>
              <a:t>Search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B2430"/>
                </a:solidFill>
              </a:rPr>
              <a:t>Results for a city name</a:t>
            </a:r>
            <a:endParaRPr lang="en-US" sz="1300" dirty="0"/>
          </a:p>
        </p:txBody>
      </p:sp>
      <p:sp>
        <p:nvSpPr>
          <p:cNvPr id="8" name="slot"/>
          <p:cNvSpPr/>
          <p:nvPr/>
        </p:nvSpPr>
        <p:spPr>
          <a:xfrm>
            <a:off x="4929988" y="1508760"/>
            <a:ext cx="2331720" cy="41605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55668" y="5715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A44"/>
                </a:solidFill>
              </a:rPr>
              <a:t>Settings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B2430"/>
                </a:solidFill>
              </a:rPr>
              <a:t>°F + mph or °C + km/h</a:t>
            </a:r>
            <a:endParaRPr lang="en-US" sz="1300" dirty="0"/>
          </a:p>
        </p:txBody>
      </p:sp>
      <p:sp>
        <p:nvSpPr>
          <p:cNvPr id="11" name="slot"/>
          <p:cNvSpPr/>
          <p:nvPr/>
        </p:nvSpPr>
        <p:spPr>
          <a:xfrm>
            <a:off x="8628126" y="1508760"/>
            <a:ext cx="2331720" cy="41605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3806" y="5715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A44"/>
                </a:solidFill>
              </a:rPr>
              <a:t>Offline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B2430"/>
                </a:solidFill>
              </a:rPr>
              <a:t>Cached forecast with the offline banner</a:t>
            </a:r>
            <a:endParaRPr lang="en-US" sz="13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CD20495-993A-BF63-2AB9-B1DDA8FC20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247" y="1512794"/>
            <a:ext cx="2333625" cy="415738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7071FFC-365C-6810-FA8D-F4F8A9065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9188" y="1512794"/>
            <a:ext cx="2333625" cy="415738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9ADC8C9-96BB-E4AA-1716-4AB80F9B80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7129" y="1512794"/>
            <a:ext cx="2333625" cy="416858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D0D44-EDC7-D2B5-9B29-CD397D9C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63479EC-6754-C517-CD82-96B6FAEDFC13}"/>
              </a:ext>
            </a:extLst>
          </p:cNvPr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err="1">
                <a:latin typeface="Cambria"/>
                <a:ea typeface="Cambria"/>
              </a:rPr>
              <a:t>SkyCast</a:t>
            </a:r>
            <a:r>
              <a:rPr lang="en-US" sz="3200" b="1">
                <a:latin typeface="Cambria"/>
                <a:ea typeface="Cambria"/>
              </a:rPr>
              <a:t> running on a device: </a:t>
            </a:r>
            <a:endParaRPr lang="en-US" sz="3200">
              <a:latin typeface="Cambria"/>
              <a:ea typeface="Cambria"/>
            </a:endParaRPr>
          </a:p>
        </p:txBody>
      </p:sp>
      <p:sp>
        <p:nvSpPr>
          <p:cNvPr id="8" name="slot">
            <a:extLst>
              <a:ext uri="{FF2B5EF4-FFF2-40B4-BE49-F238E27FC236}">
                <a16:creationId xmlns:a16="http://schemas.microsoft.com/office/drawing/2014/main" id="{6C408F03-43D5-428C-C2D3-52401C0D224D}"/>
              </a:ext>
            </a:extLst>
          </p:cNvPr>
          <p:cNvSpPr/>
          <p:nvPr/>
        </p:nvSpPr>
        <p:spPr>
          <a:xfrm>
            <a:off x="4929988" y="1508760"/>
            <a:ext cx="2331720" cy="416052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6681194-BCC6-AFD1-3BD4-C5C70F2090F1}"/>
              </a:ext>
            </a:extLst>
          </p:cNvPr>
          <p:cNvSpPr txBox="1"/>
          <p:nvPr/>
        </p:nvSpPr>
        <p:spPr>
          <a:xfrm>
            <a:off x="4655668" y="5715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>
                <a:solidFill>
                  <a:srgbClr val="0F2A44"/>
                </a:solidFill>
              </a:rPr>
              <a:t>Favorites</a:t>
            </a:r>
            <a:endParaRPr lang="en-US"/>
          </a:p>
          <a:p>
            <a:pPr algn="ctr"/>
            <a:r>
              <a:rPr lang="en-US" sz="1300">
                <a:solidFill>
                  <a:srgbClr val="1B2430"/>
                </a:solidFill>
              </a:rPr>
              <a:t>Favorite cities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CE3682-F586-0FF9-1494-BB578BEE2E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9188" y="1512794"/>
            <a:ext cx="2333625" cy="4157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4863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29424C8-D716-E9D9-942B-A80E903FE577}"/>
              </a:ext>
            </a:extLst>
          </p:cNvPr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rPr lang="en-US" dirty="0" err="1">
                <a:latin typeface="Cambria"/>
                <a:ea typeface="Cambria"/>
              </a:rPr>
              <a:t>SkyCast</a:t>
            </a:r>
            <a:r>
              <a:rPr lang="en-US" dirty="0">
                <a:latin typeface="Cambria"/>
                <a:ea typeface="Cambria"/>
              </a:rPr>
              <a:t> Running on Emulator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5C561C-5E58-75B7-427F-C3D732178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22294"/>
            <a:ext cx="9132795" cy="513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2952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3200" dirty="0"/>
          </a:p>
        </p:txBody>
      </p:sp>
      <p:sp>
        <p:nvSpPr>
          <p:cNvPr id="5" name="future-0"/>
          <p:cNvSpPr/>
          <p:nvPr/>
        </p:nvSpPr>
        <p:spPr>
          <a:xfrm>
            <a:off x="548640" y="1600200"/>
            <a:ext cx="3515258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icon-bg-MdMyLocation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MdMyLocati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20153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2960" y="265176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Current location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Find the nearest city from GPS (FR-14).</a:t>
            </a:r>
            <a:endParaRPr lang="en-US" sz="1500" dirty="0"/>
          </a:p>
        </p:txBody>
      </p:sp>
      <p:sp>
        <p:nvSpPr>
          <p:cNvPr id="9" name="future-1"/>
          <p:cNvSpPr/>
          <p:nvPr/>
        </p:nvSpPr>
        <p:spPr>
          <a:xfrm>
            <a:off x="4338218" y="1600200"/>
            <a:ext cx="3515258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icon-bg-MdNotifications"/>
          <p:cNvSpPr/>
          <p:nvPr/>
        </p:nvSpPr>
        <p:spPr>
          <a:xfrm>
            <a:off x="4612538" y="18745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MdNotifications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356" y="2015338"/>
            <a:ext cx="358445" cy="35844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12538" y="265176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Daily notification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Morning summary of the day's weather (FR-15).</a:t>
            </a:r>
            <a:endParaRPr lang="en-US" sz="1500" dirty="0"/>
          </a:p>
        </p:txBody>
      </p:sp>
      <p:sp>
        <p:nvSpPr>
          <p:cNvPr id="13" name="future-2"/>
          <p:cNvSpPr/>
          <p:nvPr/>
        </p:nvSpPr>
        <p:spPr>
          <a:xfrm>
            <a:off x="8127797" y="1600200"/>
            <a:ext cx="3515258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icon-bg-MdWidgets"/>
          <p:cNvSpPr/>
          <p:nvPr/>
        </p:nvSpPr>
        <p:spPr>
          <a:xfrm>
            <a:off x="8402117" y="18745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MdWidgets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2934" y="2015338"/>
            <a:ext cx="358445" cy="35844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402117" y="265176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Home-screen widget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Current temperature without opening the app.</a:t>
            </a:r>
            <a:endParaRPr lang="en-US" sz="1500" dirty="0"/>
          </a:p>
        </p:txBody>
      </p:sp>
      <p:sp>
        <p:nvSpPr>
          <p:cNvPr id="17" name="future-3"/>
          <p:cNvSpPr/>
          <p:nvPr/>
        </p:nvSpPr>
        <p:spPr>
          <a:xfrm>
            <a:off x="548640" y="3840480"/>
            <a:ext cx="3515258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icon-bg-MdTouchApp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MdTouchApp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778" y="4255618"/>
            <a:ext cx="358445" cy="35844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22960" y="48920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Interactive charts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Tap a point for its value; hourly detail for each day.</a:t>
            </a:r>
            <a:endParaRPr lang="en-US" sz="1500" dirty="0"/>
          </a:p>
        </p:txBody>
      </p:sp>
      <p:sp>
        <p:nvSpPr>
          <p:cNvPr id="21" name="future-4"/>
          <p:cNvSpPr/>
          <p:nvPr/>
        </p:nvSpPr>
        <p:spPr>
          <a:xfrm>
            <a:off x="4338218" y="3840480"/>
            <a:ext cx="3515258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icon-bg-MdWarning"/>
          <p:cNvSpPr/>
          <p:nvPr/>
        </p:nvSpPr>
        <p:spPr>
          <a:xfrm>
            <a:off x="4612538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con-MdWarning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3356" y="4255618"/>
            <a:ext cx="358445" cy="358445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4612538" y="48920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Weather alerts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Warn about storms, heat or freezing temperatures.</a:t>
            </a:r>
            <a:endParaRPr lang="en-US" sz="1500" dirty="0"/>
          </a:p>
        </p:txBody>
      </p:sp>
      <p:sp>
        <p:nvSpPr>
          <p:cNvPr id="25" name="future-5"/>
          <p:cNvSpPr/>
          <p:nvPr/>
        </p:nvSpPr>
        <p:spPr>
          <a:xfrm>
            <a:off x="8127797" y="3840480"/>
            <a:ext cx="3515258" cy="201168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icon-bg-MdUpgrade"/>
          <p:cNvSpPr/>
          <p:nvPr/>
        </p:nvSpPr>
        <p:spPr>
          <a:xfrm>
            <a:off x="8402117" y="41148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7" name="icon-MdUpgrade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42934" y="4255618"/>
            <a:ext cx="358445" cy="358445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402117" y="48920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Modernize the stack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AndroidX, Room and Executors in place of deprecated AsyncTask.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sun"/>
          <p:cNvSpPr/>
          <p:nvPr/>
        </p:nvSpPr>
        <p:spPr>
          <a:xfrm>
            <a:off x="9144000" y="1463040"/>
            <a:ext cx="2468880" cy="2468880"/>
          </a:xfrm>
          <a:prstGeom prst="ellipse">
            <a:avLst/>
          </a:prstGeom>
          <a:solidFill>
            <a:srgbClr val="FFFF00"/>
          </a:solidFill>
          <a:ln w="12700">
            <a:solidFill>
              <a:srgbClr val="FFFF00"/>
            </a:solidFill>
            <a:prstDash val="solid"/>
          </a:ln>
        </p:spPr>
      </p:sp>
      <p:pic>
        <p:nvPicPr>
          <p:cNvPr id="5" name="cloud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743200"/>
            <a:ext cx="2651760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xis">
  <a:themeElements>
    <a:clrScheme name="Axis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Axi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Axi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xis" id="{626E1DE4-363E-4A1A-A3CD-C79E498A714F}" vid="{3530EF86-100D-4C27-9316-4189EFA98A4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23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Axis</vt:lpstr>
      <vt:lpstr>SkyCast</vt:lpstr>
      <vt:lpstr>SkyCast: Components</vt:lpstr>
      <vt:lpstr>Developed using Waterfall Method</vt:lpstr>
      <vt:lpstr>Objectives:</vt:lpstr>
      <vt:lpstr>15 functional requirements, 13 built</vt:lpstr>
      <vt:lpstr>Nine non-functional requirements</vt:lpstr>
      <vt:lpstr>Platform and UI</vt:lpstr>
      <vt:lpstr>Data and charts</vt:lpstr>
      <vt:lpstr>System diagram</vt:lpstr>
      <vt:lpstr>Use cases</vt:lpstr>
      <vt:lpstr>Screen flow</vt:lpstr>
      <vt:lpstr>Risks, trade-offs and limits</vt:lpstr>
      <vt:lpstr>2,366 lines of Java in four packages</vt:lpstr>
      <vt:lpstr>Key code: network first, cache fallback</vt:lpstr>
      <vt:lpstr>Key code: chart axes that pick their own scale</vt:lpstr>
      <vt:lpstr>Test cases:</vt:lpstr>
      <vt:lpstr>Test cases:</vt:lpstr>
      <vt:lpstr>SkyCast running on a device: </vt:lpstr>
      <vt:lpstr>SkyCast running on a device: </vt:lpstr>
      <vt:lpstr>SkyCast running on a device: </vt:lpstr>
      <vt:lpstr>SkyCast Running on Emulator</vt:lpstr>
      <vt:lpstr>Future work</vt:lpstr>
      <vt:lpstr>Thank you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SkyCast — Android Weather App Project Report</dc:title>
  <dc:subject>CS533 Solo Project</dc:subject>
  <dc:creator>PptxGenJS</dc:creator>
  <cp:lastModifiedBy>PptxGenJS</cp:lastModifiedBy>
  <cp:revision>344</cp:revision>
  <dcterms:created xsi:type="dcterms:W3CDTF">2026-10-08T18:19:20Z</dcterms:created>
  <dcterms:modified xsi:type="dcterms:W3CDTF">2026-10-10T23:38:21Z</dcterms:modified>
</cp:coreProperties>
</file>