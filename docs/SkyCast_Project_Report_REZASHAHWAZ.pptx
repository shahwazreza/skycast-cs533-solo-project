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6" r:id="rId17"/>
    <p:sldId id="277" r:id="rId18"/>
    <p:sldId id="279" r:id="rId19"/>
    <p:sldId id="280" r:id="rId20"/>
    <p:sldId id="285" r:id="rId21"/>
    <p:sldId id="286" r:id="rId22"/>
    <p:sldId id="283" r:id="rId23"/>
    <p:sldId id="28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E46"/>
    <a:srgbClr val="1C3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11T07:32:27.544"/>
    <p1510:client id="{AC4A7D52-E8AB-3506-9A2D-FDE1A542B6BF}" v="246" dt="2026-10-11T09:02:50.330"/>
    <p1510:client id="{DB74E4F7-2585-6029-B9C2-D751FA2CF8CB}" v="1085" dt="2026-10-10T23:38:11.854"/>
    <p1510:client id="{E4A8470B-4E27-40AE-7B91-B5CE1B1F7A72}" v="6" dt="2026-10-11T07:31:36.13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B1B2C-E636-41F6-BBDA-551817183766}" type="datetimeFigureOut"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89FEE-E73C-4EE2-98F6-0451C08F3E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5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SkyCast: a weather app built for the CS533 solo project, following the SDLC.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asks for two activities, a fragment and data visualization. SkyCast has three of each. All weather data comes from the free Open-Meteo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 fits: the requirements were fixed by the assignment, the deadline was short, and the report sections match the phases. A defect found in testing loops back to development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guide what the app must do; stakeholders show who it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and Should requirements are all implemented. The two Could items are stretch goals, moved to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NFR has a way to measure it, which feeds the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here was shaped by one constraint: the build setup is copied from a working course project, so no new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new dependencies, networking, storage and charts are written with what Android provides. More code, but no setup risk and full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Activities and fragments only talk to WeatherRepository. The repository tries the network first and falls back to the SQLite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UC-01, 02 and 06 include Fetch forecast. UC-07, offline data, extends it when the network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MainActivity hosts the three fragments. Search returns a city with startActivityForResult; Settings triggers a reload if units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risk, depending on a free API, is covered by the offline cache. The rest are accepted trade-offs of the fixed toolchain.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split by responsibility. ui is the largest because it holds all three activities, three fragments and their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method delivers FR-12 (offline) and NFR-03 (no crash). Any network or parsing failure falls through to the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SimpleChartView rounds the gridline step to 1, 2, 5 or 10 times a power of ten, so the y-axis always reads cleanly whatever the temperatures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Result column after running each case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cover the remaining functional requirements and the measurable NFRs.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dashed frame with a screenshot from the phone (portrait). Keep the captions.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dashed frame with a screenshot from the phone (portrait). Keep the captions.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862C9-26BC-A891-3D31-94179FC7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DA4DD-191A-0133-5511-5F9C7DF6F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91BAB-9E03-E2BB-D55E-A0369DA47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dashed frame with a screenshot from the phone (portrait). Keep the captions.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02C1-AF1A-C189-F173-41F81EE21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8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the unbuilt stretch requirements. The last one would modernize the code if the course toolchain allowed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9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938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4700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346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6458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032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048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21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 lang="en-US" dirty="0"/>
            </a:lvl1pPr>
          </a:lstStyle>
          <a:p>
            <a:endParaRPr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88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72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340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87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48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46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74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524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14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555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80471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7875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9159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953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009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220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9443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61188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693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SkyCast  ·  CS533 Solo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18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wazreza/SkyCast-CS533-Solo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SkyCast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An Android weather app with charts, favorites and offline support</a:t>
            </a:r>
            <a:endParaRPr lang="en-US" sz="2000" dirty="0"/>
          </a:p>
          <a:p>
            <a:r>
              <a:rPr lang="en-US" sz="1600">
                <a:solidFill>
                  <a:srgbClr val="FFC000"/>
                </a:solidFill>
              </a:rPr>
              <a:t>CS533 Personal Project  ·  Project Report </a:t>
            </a:r>
            <a:endParaRPr lang="en-US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rgbClr val="FFC000"/>
                </a:solidFill>
              </a:rPr>
              <a:t>Reza Shahwaz</a:t>
            </a:r>
            <a:endParaRPr lang="en-US">
              <a:solidFill>
                <a:srgbClr val="FFC000"/>
              </a:solidFill>
            </a:endParaRPr>
          </a:p>
          <a:p>
            <a:r>
              <a:rPr lang="en-US" sz="1600">
                <a:solidFill>
                  <a:srgbClr val="FFC000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https://github.com/shahwazreza/SkyCast-CS533-Solo-Project</a:t>
            </a:r>
            <a:endParaRPr lang="en-US">
              <a:solidFill>
                <a:srgbClr val="FFC000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1600">
              <a:solidFill>
                <a:srgbClr val="FFC000"/>
              </a:solidFill>
            </a:endParaRPr>
          </a:p>
        </p:txBody>
      </p:sp>
      <p:sp>
        <p:nvSpPr>
          <p:cNvPr id="4" name="sun"/>
          <p:cNvSpPr/>
          <p:nvPr/>
        </p:nvSpPr>
        <p:spPr>
          <a:xfrm>
            <a:off x="9144000" y="1463040"/>
            <a:ext cx="2468880" cy="246888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pic>
        <p:nvPicPr>
          <p:cNvPr id="5" name="clou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74320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err="1">
                <a:latin typeface="Cambria"/>
                <a:ea typeface="Cambria"/>
              </a:rPr>
              <a:t>SkyCast</a:t>
            </a:r>
            <a:r>
              <a:rPr lang="en-US">
                <a:latin typeface="Cambria"/>
                <a:ea typeface="Cambria"/>
              </a:rPr>
              <a:t>: Components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Current weather, a 7-day forecast and charts for any city, using the free Open-Meteo API (no key, no account). Built in Java on the course's Android build setup.</a:t>
            </a:r>
            <a:endParaRPr lang="en-US" sz="1700" dirty="0"/>
          </a:p>
        </p:txBody>
      </p:sp>
      <p:sp>
        <p:nvSpPr>
          <p:cNvPr id="6" name="stat-0"/>
          <p:cNvSpPr/>
          <p:nvPr/>
        </p:nvSpPr>
        <p:spPr>
          <a:xfrm>
            <a:off x="548640" y="2423160"/>
            <a:ext cx="2567864" cy="3566160"/>
          </a:xfrm>
          <a:prstGeom prst="roundRect">
            <a:avLst>
              <a:gd name="adj" fmla="val 3561"/>
            </a:avLst>
          </a:prstGeom>
          <a:noFill/>
          <a:ln w="12700">
            <a:noFill/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47472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4348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Activities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006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Main, Search, Settings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3492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required: 2</a:t>
            </a:r>
            <a:endParaRPr lang="en-US" sz="1200" dirty="0"/>
          </a:p>
        </p:txBody>
      </p:sp>
      <p:sp>
        <p:nvSpPr>
          <p:cNvPr id="13" name="stat-1"/>
          <p:cNvSpPr/>
          <p:nvPr/>
        </p:nvSpPr>
        <p:spPr>
          <a:xfrm>
            <a:off x="3390824" y="2423160"/>
            <a:ext cx="2567864" cy="3566160"/>
          </a:xfrm>
          <a:prstGeom prst="roundRect">
            <a:avLst>
              <a:gd name="adj" fmla="val 3561"/>
            </a:avLst>
          </a:prstGeom>
          <a:noFill/>
          <a:ln w="12700">
            <a:noFill/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65144" y="347472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2"/>
          <p:cNvSpPr txBox="1"/>
          <p:nvPr/>
        </p:nvSpPr>
        <p:spPr>
          <a:xfrm>
            <a:off x="3665144" y="44348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Fragments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65144" y="48006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Today, Forecast, Favorites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665144" y="53492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required: 1</a:t>
            </a:r>
            <a:endParaRPr lang="en-US" sz="1200" dirty="0"/>
          </a:p>
        </p:txBody>
      </p:sp>
      <p:sp>
        <p:nvSpPr>
          <p:cNvPr id="20" name="stat-2"/>
          <p:cNvSpPr/>
          <p:nvPr/>
        </p:nvSpPr>
        <p:spPr>
          <a:xfrm>
            <a:off x="6233008" y="2423160"/>
            <a:ext cx="2567864" cy="3566160"/>
          </a:xfrm>
          <a:prstGeom prst="roundRect">
            <a:avLst>
              <a:gd name="adj" fmla="val 3561"/>
            </a:avLst>
          </a:prstGeom>
          <a:noFill/>
          <a:ln w="12700">
            <a:noFill/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07328" y="347472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18"/>
          <p:cNvSpPr txBox="1"/>
          <p:nvPr/>
        </p:nvSpPr>
        <p:spPr>
          <a:xfrm>
            <a:off x="6507328" y="44348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Charts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507328" y="48006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24-hour, high/low, rain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507328" y="53492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required: data visualization</a:t>
            </a:r>
            <a:endParaRPr lang="en-US" sz="1200" dirty="0"/>
          </a:p>
        </p:txBody>
      </p:sp>
      <p:sp>
        <p:nvSpPr>
          <p:cNvPr id="27" name="stat-3"/>
          <p:cNvSpPr/>
          <p:nvPr/>
        </p:nvSpPr>
        <p:spPr>
          <a:xfrm>
            <a:off x="9075191" y="2423160"/>
            <a:ext cx="2567864" cy="3566160"/>
          </a:xfrm>
          <a:prstGeom prst="roundRect">
            <a:avLst>
              <a:gd name="adj" fmla="val 3561"/>
            </a:avLst>
          </a:prstGeom>
          <a:noFill/>
          <a:ln w="12700">
            <a:noFill/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349511" y="347472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2,366</a:t>
            </a:r>
            <a:endParaRPr lang="en-US" sz="5400" dirty="0"/>
          </a:p>
        </p:txBody>
      </p:sp>
      <p:sp>
        <p:nvSpPr>
          <p:cNvPr id="31" name="Text 24"/>
          <p:cNvSpPr txBox="1"/>
          <p:nvPr/>
        </p:nvSpPr>
        <p:spPr>
          <a:xfrm>
            <a:off x="9349511" y="44348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Lines of Java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349511" y="48006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25 classes, 9 layouts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349511" y="53492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13 automated tests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Cambria"/>
                <a:ea typeface="Cambria"/>
              </a:rPr>
              <a:t>Developed using Waterfall Method</a:t>
            </a:r>
            <a:endParaRPr lang="en-US"/>
          </a:p>
        </p:txBody>
      </p:sp>
      <p:sp>
        <p:nvSpPr>
          <p:cNvPr id="5" name="phase-0"/>
          <p:cNvSpPr/>
          <p:nvPr/>
        </p:nvSpPr>
        <p:spPr>
          <a:xfrm>
            <a:off x="548640" y="1600200"/>
            <a:ext cx="1965960" cy="914400"/>
          </a:xfrm>
          <a:prstGeom prst="homePlate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Oct 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Requirements, use cases</a:t>
            </a:r>
            <a:endParaRPr lang="en-US" sz="1300" dirty="0"/>
          </a:p>
        </p:txBody>
      </p:sp>
      <p:sp>
        <p:nvSpPr>
          <p:cNvPr id="8" name="phase-1"/>
          <p:cNvSpPr/>
          <p:nvPr/>
        </p:nvSpPr>
        <p:spPr>
          <a:xfrm>
            <a:off x="2374331" y="1600200"/>
            <a:ext cx="1965960" cy="914400"/>
          </a:xfrm>
          <a:prstGeom prst="chevron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85811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Design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Oct 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648651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Alternatives, diagrams, wireframes</a:t>
            </a:r>
            <a:endParaRPr lang="en-US" sz="1300" dirty="0"/>
          </a:p>
        </p:txBody>
      </p:sp>
      <p:sp>
        <p:nvSpPr>
          <p:cNvPr id="11" name="phase-2"/>
          <p:cNvSpPr/>
          <p:nvPr/>
        </p:nvSpPr>
        <p:spPr>
          <a:xfrm>
            <a:off x="4200022" y="1600200"/>
            <a:ext cx="1965960" cy="914400"/>
          </a:xfrm>
          <a:prstGeom prst="chevron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1502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Development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Oct 8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74342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25 classes, done a day early</a:t>
            </a:r>
            <a:endParaRPr lang="en-US" sz="1300" dirty="0"/>
          </a:p>
        </p:txBody>
      </p:sp>
      <p:sp>
        <p:nvSpPr>
          <p:cNvPr id="14" name="phase-3"/>
          <p:cNvSpPr/>
          <p:nvPr/>
        </p:nvSpPr>
        <p:spPr>
          <a:xfrm>
            <a:off x="6025713" y="1600200"/>
            <a:ext cx="1965960" cy="914400"/>
          </a:xfrm>
          <a:prstGeom prst="chevron">
            <a:avLst/>
          </a:prstGeom>
          <a:solidFill>
            <a:srgbClr val="16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7193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Testing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Oct 10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00033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Unit, instrumented, manual</a:t>
            </a:r>
            <a:endParaRPr lang="en-US" sz="1300" dirty="0"/>
          </a:p>
        </p:txBody>
      </p:sp>
      <p:sp>
        <p:nvSpPr>
          <p:cNvPr id="17" name="phase-4"/>
          <p:cNvSpPr/>
          <p:nvPr/>
        </p:nvSpPr>
        <p:spPr>
          <a:xfrm>
            <a:off x="7851404" y="1600200"/>
            <a:ext cx="1965960" cy="914400"/>
          </a:xfrm>
          <a:prstGeom prst="chevron">
            <a:avLst/>
          </a:prstGeom>
          <a:solidFill>
            <a:srgbClr val="1C3248"/>
          </a:solidFill>
          <a:ln w="12700">
            <a:solidFill>
              <a:srgbClr val="162E4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62884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Implementation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Oct 10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25724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Real device, fix issues</a:t>
            </a:r>
            <a:endParaRPr lang="en-US" sz="1300" dirty="0"/>
          </a:p>
        </p:txBody>
      </p:sp>
      <p:sp>
        <p:nvSpPr>
          <p:cNvPr id="20" name="phase-5"/>
          <p:cNvSpPr/>
          <p:nvPr/>
        </p:nvSpPr>
        <p:spPr>
          <a:xfrm>
            <a:off x="9677095" y="1600200"/>
            <a:ext cx="1965960" cy="914400"/>
          </a:xfrm>
          <a:prstGeom prst="chevron">
            <a:avLst/>
          </a:prstGeom>
          <a:solidFill>
            <a:srgbClr val="16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88575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Evaluation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</a:rPr>
              <a:t>Oct 10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951415" y="2651760"/>
            <a:ext cx="1734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Report and submission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0699" y="387275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Waterfall</a:t>
            </a:r>
            <a:endParaRPr lang="en-US" sz="1800" dirty="0"/>
          </a:p>
        </p:txBody>
      </p:sp>
      <p:sp>
        <p:nvSpPr>
          <p:cNvPr id="28" name="why-0"/>
          <p:cNvSpPr/>
          <p:nvPr/>
        </p:nvSpPr>
        <p:spPr>
          <a:xfrm>
            <a:off x="660699" y="4329953"/>
            <a:ext cx="3515258" cy="1280160"/>
          </a:xfrm>
          <a:prstGeom prst="roundRect">
            <a:avLst>
              <a:gd name="adj" fmla="val 7143"/>
            </a:avLst>
          </a:prstGeom>
          <a:noFill/>
          <a:ln w="12700">
            <a:noFill/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89299" y="4467113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Fixed requirements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assignment defines the required components up front.</a:t>
            </a:r>
            <a:endParaRPr lang="en-US" sz="1400" dirty="0"/>
          </a:p>
        </p:txBody>
      </p:sp>
      <p:sp>
        <p:nvSpPr>
          <p:cNvPr id="30" name="why-1"/>
          <p:cNvSpPr/>
          <p:nvPr/>
        </p:nvSpPr>
        <p:spPr>
          <a:xfrm>
            <a:off x="4450277" y="4329953"/>
            <a:ext cx="3515258" cy="1280160"/>
          </a:xfrm>
          <a:prstGeom prst="roundRect">
            <a:avLst>
              <a:gd name="adj" fmla="val 7143"/>
            </a:avLst>
          </a:prstGeom>
          <a:noFill/>
          <a:ln w="12700">
            <a:noFill/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78877" y="4467113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Short, fixed deadline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days leaves no room for repeated full iterations.</a:t>
            </a:r>
            <a:endParaRPr lang="en-US" sz="1400" dirty="0"/>
          </a:p>
        </p:txBody>
      </p:sp>
      <p:sp>
        <p:nvSpPr>
          <p:cNvPr id="32" name="why-2"/>
          <p:cNvSpPr/>
          <p:nvPr/>
        </p:nvSpPr>
        <p:spPr>
          <a:xfrm>
            <a:off x="8239856" y="4329953"/>
            <a:ext cx="3515258" cy="1280160"/>
          </a:xfrm>
          <a:prstGeom prst="roundRect">
            <a:avLst>
              <a:gd name="adj" fmla="val 7143"/>
            </a:avLst>
          </a:prstGeom>
          <a:noFill/>
          <a:ln w="12700">
            <a:noFill/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68456" y="4467113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Matches the report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phase maps to a section of this report.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>
                <a:latin typeface="Cambria"/>
                <a:ea typeface="Cambria"/>
              </a:rPr>
              <a:t>Objectives:</a:t>
            </a:r>
            <a:endParaRPr lang="en-US"/>
          </a:p>
        </p:txBody>
      </p:sp>
      <p:sp>
        <p:nvSpPr>
          <p:cNvPr id="5" name="icon-bg-MdWbSunny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417320" y="15361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Accurate weather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Current conditions and a 7-day forecast for any city the user searches for.</a:t>
            </a:r>
            <a:endParaRPr lang="en-US" sz="1500" dirty="0"/>
          </a:p>
        </p:txBody>
      </p:sp>
      <p:sp>
        <p:nvSpPr>
          <p:cNvPr id="8" name="icon-bg-MdShowChart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417320" y="24505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Visual data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Three charts: 24-hour temperature, 7-day high/low, and chance of rain.</a:t>
            </a:r>
            <a:endParaRPr lang="en-US" sz="1500" dirty="0"/>
          </a:p>
        </p:txBody>
      </p:sp>
      <p:sp>
        <p:nvSpPr>
          <p:cNvPr id="11" name="icon-bg-MdStar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417320" y="33649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Favorites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Save cities and switch between them in one tap.</a:t>
            </a:r>
            <a:endParaRPr lang="en-US" sz="1500" dirty="0"/>
          </a:p>
        </p:txBody>
      </p:sp>
      <p:sp>
        <p:nvSpPr>
          <p:cNvPr id="14" name="icon-bg-MdWifiOff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417320" y="42793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Works offline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Shows the last saved forecast when there is no internet.</a:t>
            </a:r>
            <a:endParaRPr lang="en-US" sz="1500" dirty="0"/>
          </a:p>
        </p:txBody>
      </p:sp>
      <p:sp>
        <p:nvSpPr>
          <p:cNvPr id="17" name="icon-bg-MdTimeline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1417320" y="51937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Follow the SDLC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Document each phase in this report.</a:t>
            </a:r>
            <a:endParaRPr lang="en-US" sz="1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228DE-6F29-C95E-AC77-BD711D7BAF1A}"/>
              </a:ext>
            </a:extLst>
          </p:cNvPr>
          <p:cNvSpPr txBox="1"/>
          <p:nvPr/>
        </p:nvSpPr>
        <p:spPr>
          <a:xfrm>
            <a:off x="691007" y="1689925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D5EE5-7C07-09C4-8923-DCC3975EED25}"/>
              </a:ext>
            </a:extLst>
          </p:cNvPr>
          <p:cNvSpPr txBox="1"/>
          <p:nvPr/>
        </p:nvSpPr>
        <p:spPr>
          <a:xfrm>
            <a:off x="689203" y="261986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572A93-27AA-3E95-4F71-D86CC4CBBFD5}"/>
              </a:ext>
            </a:extLst>
          </p:cNvPr>
          <p:cNvSpPr txBox="1"/>
          <p:nvPr/>
        </p:nvSpPr>
        <p:spPr>
          <a:xfrm>
            <a:off x="689203" y="352753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3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9789C7-6BE0-7792-BE46-BEF488C36E4E}"/>
              </a:ext>
            </a:extLst>
          </p:cNvPr>
          <p:cNvSpPr txBox="1"/>
          <p:nvPr/>
        </p:nvSpPr>
        <p:spPr>
          <a:xfrm>
            <a:off x="689202" y="443521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246EF2-2896-3259-C7D7-D58D5B29A6C1}"/>
              </a:ext>
            </a:extLst>
          </p:cNvPr>
          <p:cNvSpPr txBox="1"/>
          <p:nvPr/>
        </p:nvSpPr>
        <p:spPr>
          <a:xfrm>
            <a:off x="689203" y="53540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functional requirements, 13 built</a:t>
            </a:r>
            <a:endParaRPr lang="en-US" sz="3200" dirty="0"/>
          </a:p>
        </p:txBody>
      </p:sp>
      <p:sp>
        <p:nvSpPr>
          <p:cNvPr id="5" name="fr-Must"/>
          <p:cNvSpPr/>
          <p:nvPr/>
        </p:nvSpPr>
        <p:spPr>
          <a:xfrm>
            <a:off x="548640" y="1554480"/>
            <a:ext cx="4069080" cy="3657600"/>
          </a:xfrm>
          <a:prstGeom prst="roundRect">
            <a:avLst>
              <a:gd name="adj" fmla="val 2500"/>
            </a:avLst>
          </a:prstGeom>
          <a:noFill/>
          <a:ln w="12700">
            <a:noFill/>
            <a:prstDash val="solid"/>
          </a:ln>
        </p:spPr>
      </p:sp>
      <p:sp>
        <p:nvSpPr>
          <p:cNvPr id="6" name="chip-Must"/>
          <p:cNvSpPr/>
          <p:nvPr/>
        </p:nvSpPr>
        <p:spPr>
          <a:xfrm>
            <a:off x="777240" y="1737360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Must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FR-01  </a:t>
            </a:r>
            <a:r>
              <a:rPr lang="en-US" sz="1400" dirty="0"/>
              <a:t>Current conditions for the selected city</a:t>
            </a:r>
          </a:p>
          <a:p>
            <a:pPr>
              <a:spcAft>
                <a:spcPts val="900"/>
              </a:spcAft>
            </a:pPr>
            <a:r>
              <a:rPr lang="en-US" sz="1400" b="1" dirty="0">
                <a:solidFill>
                  <a:srgbClr val="0F2A44"/>
                </a:solidFill>
              </a:rPr>
              <a:t>FR-02  </a:t>
            </a:r>
            <a:r>
              <a:rPr lang="en-US" sz="1400" dirty="0"/>
              <a:t>24-hour temperature line chart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FR-03  </a:t>
            </a:r>
            <a:r>
              <a:rPr lang="en-US" sz="1400" dirty="0"/>
              <a:t>7-day high/low line chart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FR-04  </a:t>
            </a:r>
            <a:r>
              <a:rPr lang="en-US" sz="1400" dirty="0"/>
              <a:t>7-day chance-of-rain bar chart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FR-05  </a:t>
            </a:r>
            <a:r>
              <a:rPr lang="en-US" sz="1400" dirty="0"/>
              <a:t>7-day daily list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FR-06  </a:t>
            </a:r>
            <a:r>
              <a:rPr lang="en-US" sz="1400" dirty="0"/>
              <a:t>Search cities by name</a:t>
            </a:r>
          </a:p>
          <a:p>
            <a:pPr>
              <a:spcAft>
                <a:spcPts val="900"/>
              </a:spcAft>
            </a:pPr>
            <a:r>
              <a:rPr lang="en-US" sz="1400" b="1" dirty="0">
                <a:solidFill>
                  <a:srgbClr val="0F2A44"/>
                </a:solidFill>
              </a:rPr>
              <a:t>FR-13  </a:t>
            </a:r>
            <a:r>
              <a:rPr lang="en-US" sz="1400" dirty="0"/>
              <a:t>Clear error and empty-state messages</a:t>
            </a:r>
          </a:p>
        </p:txBody>
      </p:sp>
      <p:sp>
        <p:nvSpPr>
          <p:cNvPr id="9" name="fr-Should"/>
          <p:cNvSpPr/>
          <p:nvPr/>
        </p:nvSpPr>
        <p:spPr>
          <a:xfrm>
            <a:off x="4892040" y="1554480"/>
            <a:ext cx="4069080" cy="3657600"/>
          </a:xfrm>
          <a:prstGeom prst="roundRect">
            <a:avLst>
              <a:gd name="adj" fmla="val 2500"/>
            </a:avLst>
          </a:prstGeom>
          <a:noFill/>
          <a:ln w="12700">
            <a:noFill/>
            <a:prstDash val="solid"/>
          </a:ln>
        </p:spPr>
      </p:sp>
      <p:sp>
        <p:nvSpPr>
          <p:cNvPr id="10" name="chip-Should"/>
          <p:cNvSpPr/>
          <p:nvPr/>
        </p:nvSpPr>
        <p:spPr>
          <a:xfrm>
            <a:off x="5120640" y="1737360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737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Should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24028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FR-07  </a:t>
            </a:r>
            <a:r>
              <a:rPr lang="en-US" sz="1400" dirty="0">
                <a:solidFill>
                  <a:schemeClr val="tx1"/>
                </a:solidFill>
              </a:rPr>
              <a:t>Save or unsave the current city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FR-08  </a:t>
            </a:r>
            <a:r>
              <a:rPr lang="en-US" sz="1400" dirty="0">
                <a:solidFill>
                  <a:schemeClr val="tx1"/>
                </a:solidFill>
              </a:rPr>
              <a:t>Favorites list: tap to open, delete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FR-09  </a:t>
            </a:r>
            <a:r>
              <a:rPr lang="en-US" sz="1400" dirty="0">
                <a:solidFill>
                  <a:schemeClr val="tx1"/>
                </a:solidFill>
              </a:rPr>
              <a:t>°F + mph or °C + km/h, remembered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FR-10  </a:t>
            </a:r>
            <a:r>
              <a:rPr lang="en-US" sz="1400" dirty="0">
                <a:solidFill>
                  <a:schemeClr val="tx1"/>
                </a:solidFill>
              </a:rPr>
              <a:t>Reopen on the last city viewed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FR-11  </a:t>
            </a:r>
            <a:r>
              <a:rPr lang="en-US" sz="1400" dirty="0">
                <a:solidFill>
                  <a:schemeClr val="tx1"/>
                </a:solidFill>
              </a:rPr>
              <a:t>Pull-to-refresh and Refresh button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FR-12  </a:t>
            </a:r>
            <a:r>
              <a:rPr lang="en-US" sz="1400" dirty="0">
                <a:solidFill>
                  <a:schemeClr val="tx1"/>
                </a:solidFill>
              </a:rPr>
              <a:t>Offline: last saved forecast</a:t>
            </a:r>
            <a:endParaRPr lang="en-US" sz="1400" dirty="0"/>
          </a:p>
        </p:txBody>
      </p:sp>
      <p:sp>
        <p:nvSpPr>
          <p:cNvPr id="13" name="fr-Could"/>
          <p:cNvSpPr/>
          <p:nvPr/>
        </p:nvSpPr>
        <p:spPr>
          <a:xfrm>
            <a:off x="9235440" y="1554480"/>
            <a:ext cx="2404872" cy="3657600"/>
          </a:xfrm>
          <a:prstGeom prst="roundRect">
            <a:avLst>
              <a:gd name="adj" fmla="val 3802"/>
            </a:avLst>
          </a:prstGeom>
          <a:noFill/>
          <a:ln w="12700">
            <a:noFill/>
            <a:prstDash val="solid"/>
          </a:ln>
        </p:spPr>
      </p:sp>
      <p:sp>
        <p:nvSpPr>
          <p:cNvPr id="14" name="chip-Could"/>
          <p:cNvSpPr/>
          <p:nvPr/>
        </p:nvSpPr>
        <p:spPr>
          <a:xfrm>
            <a:off x="9464040" y="1737360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64040" y="1737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Could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240280"/>
            <a:ext cx="19933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FR-14  </a:t>
            </a:r>
            <a:r>
              <a:rPr lang="en-US" sz="1400" dirty="0">
                <a:solidFill>
                  <a:schemeClr val="tx1"/>
                </a:solidFill>
              </a:rPr>
              <a:t>Nearest city from location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2A44"/>
                </a:solidFill>
              </a:rPr>
              <a:t>FR-15  </a:t>
            </a:r>
            <a:r>
              <a:rPr lang="en-US" sz="1400" dirty="0">
                <a:solidFill>
                  <a:schemeClr val="tx1"/>
                </a:solidFill>
              </a:rPr>
              <a:t>Daily weather notification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46404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Stretch goals, not built: moved to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non-functional requirements</a:t>
            </a:r>
            <a:endParaRPr lang="en-US" sz="3200" dirty="0"/>
          </a:p>
        </p:txBody>
      </p:sp>
      <p:sp>
        <p:nvSpPr>
          <p:cNvPr id="5" name="nfr-0"/>
          <p:cNvSpPr/>
          <p:nvPr/>
        </p:nvSpPr>
        <p:spPr>
          <a:xfrm>
            <a:off x="548640" y="155448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6" name="icon-bg-MdSpeed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554480" y="175564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Performance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Weather appears within 3 seconds</a:t>
            </a:r>
            <a:endParaRPr lang="en-US" sz="1400" dirty="0"/>
          </a:p>
        </p:txBody>
      </p:sp>
      <p:sp>
        <p:nvSpPr>
          <p:cNvPr id="10" name="nfr-1"/>
          <p:cNvSpPr/>
          <p:nvPr/>
        </p:nvSpPr>
        <p:spPr>
          <a:xfrm>
            <a:off x="4338218" y="155448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11" name="icon-bg-MdSync"/>
          <p:cNvSpPr/>
          <p:nvPr/>
        </p:nvSpPr>
        <p:spPr>
          <a:xfrm>
            <a:off x="4566818" y="1828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344058" y="175564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Responsiveness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Network and database work off the UI thread</a:t>
            </a:r>
            <a:endParaRPr lang="en-US" sz="1400" dirty="0"/>
          </a:p>
        </p:txBody>
      </p:sp>
      <p:sp>
        <p:nvSpPr>
          <p:cNvPr id="15" name="nfr-2"/>
          <p:cNvSpPr/>
          <p:nvPr/>
        </p:nvSpPr>
        <p:spPr>
          <a:xfrm>
            <a:off x="8127797" y="155448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16" name="icon-bg-MdScreenRotation"/>
          <p:cNvSpPr/>
          <p:nvPr/>
        </p:nvSpPr>
        <p:spPr>
          <a:xfrm>
            <a:off x="8356397" y="1828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133637" y="175564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Reliability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crash offline, on API errors or rotation</a:t>
            </a:r>
            <a:endParaRPr lang="en-US" sz="1400" dirty="0"/>
          </a:p>
        </p:txBody>
      </p:sp>
      <p:sp>
        <p:nvSpPr>
          <p:cNvPr id="20" name="nfr-3"/>
          <p:cNvSpPr/>
          <p:nvPr/>
        </p:nvSpPr>
        <p:spPr>
          <a:xfrm>
            <a:off x="548640" y="310896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21" name="icon-bg-MdTouchApp"/>
          <p:cNvSpPr/>
          <p:nvPr/>
        </p:nvSpPr>
        <p:spPr>
          <a:xfrm>
            <a:off x="777240" y="3383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554480" y="331012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Usability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feature within 2 taps of Today</a:t>
            </a:r>
            <a:endParaRPr lang="en-US" sz="1400" dirty="0"/>
          </a:p>
        </p:txBody>
      </p:sp>
      <p:sp>
        <p:nvSpPr>
          <p:cNvPr id="25" name="nfr-4"/>
          <p:cNvSpPr/>
          <p:nvPr/>
        </p:nvSpPr>
        <p:spPr>
          <a:xfrm>
            <a:off x="4338218" y="310896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26" name="icon-bg-MdPhoneAndroid"/>
          <p:cNvSpPr/>
          <p:nvPr/>
        </p:nvSpPr>
        <p:spPr>
          <a:xfrm>
            <a:off x="4566818" y="3383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344058" y="331012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Compatibility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Android 6.0 (API 23)+, portrait and landscape</a:t>
            </a:r>
            <a:endParaRPr lang="en-US" sz="1400" dirty="0"/>
          </a:p>
        </p:txBody>
      </p:sp>
      <p:sp>
        <p:nvSpPr>
          <p:cNvPr id="30" name="nfr-5"/>
          <p:cNvSpPr/>
          <p:nvPr/>
        </p:nvSpPr>
        <p:spPr>
          <a:xfrm>
            <a:off x="8127797" y="310896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31" name="icon-bg-MdLock"/>
          <p:cNvSpPr/>
          <p:nvPr/>
        </p:nvSpPr>
        <p:spPr>
          <a:xfrm>
            <a:off x="8356397" y="3383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9133637" y="331012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&amp; privacy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HTTPS only, no key or account, 2 permissions</a:t>
            </a:r>
            <a:endParaRPr lang="en-US" sz="1400" dirty="0"/>
          </a:p>
        </p:txBody>
      </p:sp>
      <p:sp>
        <p:nvSpPr>
          <p:cNvPr id="35" name="nfr-6"/>
          <p:cNvSpPr/>
          <p:nvPr/>
        </p:nvSpPr>
        <p:spPr>
          <a:xfrm>
            <a:off x="548640" y="466344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36" name="icon-bg-MdBuild"/>
          <p:cNvSpPr/>
          <p:nvPr/>
        </p:nvSpPr>
        <p:spPr>
          <a:xfrm>
            <a:off x="777240" y="4937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554480" y="486460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Maintainability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data / ui / view / util packages, classes commented</a:t>
            </a:r>
            <a:endParaRPr lang="en-US" sz="1400" dirty="0"/>
          </a:p>
        </p:txBody>
      </p:sp>
      <p:sp>
        <p:nvSpPr>
          <p:cNvPr id="40" name="nfr-7"/>
          <p:cNvSpPr/>
          <p:nvPr/>
        </p:nvSpPr>
        <p:spPr>
          <a:xfrm>
            <a:off x="4338218" y="466344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41" name="icon-bg-MdAccessibility"/>
          <p:cNvSpPr/>
          <p:nvPr/>
        </p:nvSpPr>
        <p:spPr>
          <a:xfrm>
            <a:off x="4566818" y="4937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5344058" y="486460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Accessibility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Content descriptions, sp text, labeled charts</a:t>
            </a:r>
            <a:endParaRPr lang="en-US" sz="1400" dirty="0"/>
          </a:p>
        </p:txBody>
      </p:sp>
      <p:sp>
        <p:nvSpPr>
          <p:cNvPr id="45" name="nfr-8"/>
          <p:cNvSpPr/>
          <p:nvPr/>
        </p:nvSpPr>
        <p:spPr>
          <a:xfrm>
            <a:off x="8127797" y="4663440"/>
            <a:ext cx="3515258" cy="1325880"/>
          </a:xfrm>
          <a:prstGeom prst="roundRect">
            <a:avLst>
              <a:gd name="adj" fmla="val 6897"/>
            </a:avLst>
          </a:prstGeom>
          <a:noFill/>
          <a:ln w="12700">
            <a:noFill/>
            <a:prstDash val="solid"/>
          </a:ln>
        </p:spPr>
      </p:sp>
      <p:sp>
        <p:nvSpPr>
          <p:cNvPr id="46" name="icon-bg-MdStorage"/>
          <p:cNvSpPr/>
          <p:nvPr/>
        </p:nvSpPr>
        <p:spPr>
          <a:xfrm>
            <a:off x="8356397" y="4937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9133637" y="4864608"/>
            <a:ext cx="2326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Storage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cached forecast per city, replaced on refresh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AADBD0-335E-6EE3-637C-C6DD63D1C38F}"/>
              </a:ext>
            </a:extLst>
          </p:cNvPr>
          <p:cNvSpPr txBox="1"/>
          <p:nvPr/>
        </p:nvSpPr>
        <p:spPr>
          <a:xfrm>
            <a:off x="937536" y="193122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E04D69-5DBC-8014-FD48-85D53C292793}"/>
              </a:ext>
            </a:extLst>
          </p:cNvPr>
          <p:cNvSpPr txBox="1"/>
          <p:nvPr/>
        </p:nvSpPr>
        <p:spPr>
          <a:xfrm>
            <a:off x="937536" y="348884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637202-F41D-9985-CDD7-E6D8766E95BF}"/>
              </a:ext>
            </a:extLst>
          </p:cNvPr>
          <p:cNvSpPr txBox="1"/>
          <p:nvPr/>
        </p:nvSpPr>
        <p:spPr>
          <a:xfrm>
            <a:off x="937536" y="503525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665DD1-BA29-630C-CB19-9F654B37A726}"/>
              </a:ext>
            </a:extLst>
          </p:cNvPr>
          <p:cNvSpPr txBox="1"/>
          <p:nvPr/>
        </p:nvSpPr>
        <p:spPr>
          <a:xfrm>
            <a:off x="4725124" y="193122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25754A-48F6-2FA7-7A52-30750B630F7D}"/>
              </a:ext>
            </a:extLst>
          </p:cNvPr>
          <p:cNvSpPr txBox="1"/>
          <p:nvPr/>
        </p:nvSpPr>
        <p:spPr>
          <a:xfrm>
            <a:off x="4725125" y="348884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DC88B7-7054-6285-9CB2-ADA7C7BA31F7}"/>
              </a:ext>
            </a:extLst>
          </p:cNvPr>
          <p:cNvSpPr txBox="1"/>
          <p:nvPr/>
        </p:nvSpPr>
        <p:spPr>
          <a:xfrm>
            <a:off x="4725125" y="503525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51E9B0-842C-2251-1836-97CDB1CF4C25}"/>
              </a:ext>
            </a:extLst>
          </p:cNvPr>
          <p:cNvSpPr txBox="1"/>
          <p:nvPr/>
        </p:nvSpPr>
        <p:spPr>
          <a:xfrm>
            <a:off x="8523919" y="193122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483196-1B86-2E57-516A-0BBAFF6C0239}"/>
              </a:ext>
            </a:extLst>
          </p:cNvPr>
          <p:cNvSpPr txBox="1"/>
          <p:nvPr/>
        </p:nvSpPr>
        <p:spPr>
          <a:xfrm>
            <a:off x="8523919" y="348884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99FB2C-647D-D6C8-2B51-49DF988D44C4}"/>
              </a:ext>
            </a:extLst>
          </p:cNvPr>
          <p:cNvSpPr txBox="1"/>
          <p:nvPr/>
        </p:nvSpPr>
        <p:spPr>
          <a:xfrm>
            <a:off x="8523919" y="503525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Platform and UI</a:t>
            </a:r>
            <a:endParaRPr lang="en-US" sz="3200">
              <a:latin typeface="Cambria"/>
              <a:ea typeface="Cambria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42584"/>
              </p:ext>
            </p:extLst>
          </p:nvPr>
        </p:nvGraphicFramePr>
        <p:xfrm>
          <a:off x="548640" y="1600200"/>
          <a:ext cx="11094415" cy="43434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1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Decision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Chosen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Alternatives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Why chosen (pros)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Trade-off (cons)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Platform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Native Android, Java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Kotlin; Flutter; React Native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Matches the course's working build; full access to Android APIs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More boilerplate than Kotlin; Android only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UI toolkit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XML layouts, support library 23.0.1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Jetpack Compose; AndroidX + Material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Fragments are required; builds with Android Gradle Plugin 3.1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Older widgets and styling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Navigation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TabLayout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 +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ViewPager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Bottom navigation; Navigation component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Available in design library 23.0.1; swipe between tabs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Bottom navigation isn't available at this version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Weather data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Open-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Meteo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 API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OpenWeatherMap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; WeatherAPI.com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Free, HTTPS, no API key or account; forecast and city search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Depends on a third-party service staying free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Data and charts</a:t>
            </a:r>
            <a:endParaRPr lang="en-US" sz="3200">
              <a:latin typeface="Cambria"/>
              <a:ea typeface="Cambria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140202"/>
              </p:ext>
            </p:extLst>
          </p:nvPr>
        </p:nvGraphicFramePr>
        <p:xfrm>
          <a:off x="548640" y="1600200"/>
          <a:ext cx="11094415" cy="43434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1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Decision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Chosen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Alternatives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Why chosen (pros)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Trade-off (cons)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Networking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HttpURLConnection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 +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org.json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Retrofit +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Gson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; Volley;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OkHttp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Built into Android; no new dependencies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URLs and JSON parsing written by hand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Storage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SQLiteOpenHelper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 +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SharedPreferences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Room; Firebase; plain files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Built in; works offline; no account or setup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Hand-written SQL and cursor code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Charts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Custom Canvas view (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SimpleChartView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)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MPAndroidChart</a:t>
                      </a: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; GraphView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No library allowed; full control of look and labels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No zoom or tap-for-value; more code to test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Background work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AsyncTask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Thread + Handler; Executors; </a:t>
                      </a:r>
                      <a:r>
                        <a:rPr lang="en-US" sz="1400" dirty="0" err="1">
                          <a:solidFill>
                            <a:srgbClr val="1B2430"/>
                          </a:solidFill>
                        </a:rPr>
                        <a:t>RxJava</a:t>
                      </a:r>
                      <a:endParaRPr lang="en-US" sz="1400" dirty="0">
                        <a:solidFill>
                          <a:srgbClr val="1B2430"/>
                        </a:solidFill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Part of API 23; results arrive on the UI thread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Deprecated in later Android; must cancel by hand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System diagram</a:t>
            </a:r>
            <a:endParaRPr lang="en-US" sz="3200">
              <a:latin typeface="Cambria"/>
              <a:ea typeface="Cambria"/>
            </a:endParaRPr>
          </a:p>
        </p:txBody>
      </p:sp>
      <p:pic>
        <p:nvPicPr>
          <p:cNvPr id="5" name="architecture" descr="/tmp/claude-0/-home-claude/20a089d5-3b90-5b57-ab41-0a031dc49545/scratchpad/proj/SkyCast-CS533-Solo-Project/docs/diagrams/SkyCas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287" y="1945413"/>
            <a:ext cx="7863840" cy="38107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Use cases</a:t>
            </a:r>
            <a:endParaRPr lang="en-US" sz="3200">
              <a:latin typeface="Cambria"/>
              <a:ea typeface="Cambria"/>
            </a:endParaRPr>
          </a:p>
        </p:txBody>
      </p:sp>
      <p:pic>
        <p:nvPicPr>
          <p:cNvPr id="5" name="usecases" descr="/tmp/claude-0/-home-claude/20a089d5-3b90-5b57-ab41-0a031dc49545/scratchpad/proj/SkyCast-CS533-Solo-Project/docs/diagrams/SkyCast_Use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1641"/>
            <a:ext cx="11094415" cy="45462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Screen flow</a:t>
            </a:r>
            <a:endParaRPr lang="en-US" sz="3200">
              <a:latin typeface="Cambria"/>
              <a:ea typeface="Cambria"/>
            </a:endParaRPr>
          </a:p>
        </p:txBody>
      </p:sp>
      <p:pic>
        <p:nvPicPr>
          <p:cNvPr id="5" name="screenflow" descr="/tmp/claude-0/-home-claude/20a089d5-3b90-5b57-ab41-0a031dc49545/scratchpad/proj/SkyCast-CS533-Solo-Project/docs/diagrams/SkyCast_Screen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615117"/>
            <a:ext cx="5760720" cy="47877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trade-offs and limits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1208"/>
              </p:ext>
            </p:extLst>
          </p:nvPr>
        </p:nvGraphicFramePr>
        <p:xfrm>
          <a:off x="548640" y="1600200"/>
          <a:ext cx="11094415" cy="445312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6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Impact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Solution or decision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Open-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Meteo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 outage or slow network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Risk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fresh weather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Network first with SQLite cache fallback; 10-second timeouts; clear message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Fixed old toolchain (AGP 3.1, API 23)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Constraint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modern libraries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Wrote networking, storage and charts by hand; kept the build identical to a working project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AsyncTask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 deprecated in later Android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Trade-off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Future maintenance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Fine on API 23; replace with Executors when upgrading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Cache only covers cities already loaded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New city offline shows an error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Message says there's no internet; cache refreshes on every successful load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Emoji weather icons vary by phone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Icons look different per device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Text description shown with every icon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Custom charts are static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Trade-off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zoom or tap-for-value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Values printed on the 7-day charts; daily list shows exact numbers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2,366 lines of Java in four packages</a:t>
            </a:r>
            <a:endParaRPr lang="en-US" sz="3200" dirty="0"/>
          </a:p>
        </p:txBody>
      </p:sp>
      <p:sp>
        <p:nvSpPr>
          <p:cNvPr id="5" name="pkg-0"/>
          <p:cNvSpPr/>
          <p:nvPr/>
        </p:nvSpPr>
        <p:spPr>
          <a:xfrm>
            <a:off x="548640" y="1554480"/>
            <a:ext cx="11094415" cy="1005840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</p:sp>
      <p:sp>
        <p:nvSpPr>
          <p:cNvPr id="6" name="icon-bg-MdPhoneAndroid"/>
          <p:cNvSpPr/>
          <p:nvPr/>
        </p:nvSpPr>
        <p:spPr>
          <a:xfrm>
            <a:off x="777240" y="175564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con-MdPhoneAndroi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1" y="1888419"/>
            <a:ext cx="337962" cy="3379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664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11 classes</a:t>
            </a:r>
            <a:endParaRPr lang="en-US" sz="1300" dirty="0"/>
          </a:p>
        </p:txBody>
      </p:sp>
      <p:sp>
        <p:nvSpPr>
          <p:cNvPr id="10" name="bar-0"/>
          <p:cNvSpPr/>
          <p:nvPr/>
        </p:nvSpPr>
        <p:spPr>
          <a:xfrm>
            <a:off x="2926080" y="1901952"/>
            <a:ext cx="2926080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0" y="1856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1,245 lines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1645920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MainActivity, SearchActivity, SettingsActivity, TodayFragment, ForecastFragment, FavoritesFragment, WeatherFragment, adapters, ItemDivider</a:t>
            </a:r>
            <a:endParaRPr lang="en-US" sz="1300" dirty="0"/>
          </a:p>
        </p:txBody>
      </p:sp>
      <p:sp>
        <p:nvSpPr>
          <p:cNvPr id="13" name="pkg-1"/>
          <p:cNvSpPr/>
          <p:nvPr/>
        </p:nvSpPr>
        <p:spPr>
          <a:xfrm>
            <a:off x="548640" y="2697480"/>
            <a:ext cx="11094415" cy="1005840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</p:sp>
      <p:sp>
        <p:nvSpPr>
          <p:cNvPr id="14" name="icon-bg-MdStorage"/>
          <p:cNvSpPr/>
          <p:nvPr/>
        </p:nvSpPr>
        <p:spPr>
          <a:xfrm>
            <a:off x="777240" y="289864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con-MdStor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1" y="3031419"/>
            <a:ext cx="337962" cy="3379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807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10 classes</a:t>
            </a:r>
            <a:endParaRPr lang="en-US" sz="1300" dirty="0"/>
          </a:p>
        </p:txBody>
      </p:sp>
      <p:sp>
        <p:nvSpPr>
          <p:cNvPr id="18" name="bar-1"/>
          <p:cNvSpPr/>
          <p:nvPr/>
        </p:nvSpPr>
        <p:spPr>
          <a:xfrm>
            <a:off x="2926080" y="3044952"/>
            <a:ext cx="1445413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462933" y="2999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615 lines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2788920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WeatherRepository, WeatherApiClient, ForecastParser, DatabaseHelper, SettingsStore, models (City, Forecast, DailyForecast…)</a:t>
            </a:r>
            <a:endParaRPr lang="en-US" sz="1300" dirty="0"/>
          </a:p>
        </p:txBody>
      </p:sp>
      <p:sp>
        <p:nvSpPr>
          <p:cNvPr id="21" name="pkg-2"/>
          <p:cNvSpPr/>
          <p:nvPr/>
        </p:nvSpPr>
        <p:spPr>
          <a:xfrm>
            <a:off x="548640" y="3840480"/>
            <a:ext cx="11094415" cy="1005840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</p:sp>
      <p:sp>
        <p:nvSpPr>
          <p:cNvPr id="22" name="icon-bg-MdShowChart"/>
          <p:cNvSpPr/>
          <p:nvPr/>
        </p:nvSpPr>
        <p:spPr>
          <a:xfrm>
            <a:off x="777240" y="404164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con-MdShowChar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11" y="4174419"/>
            <a:ext cx="337962" cy="3379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155448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1 class</a:t>
            </a:r>
            <a:endParaRPr lang="en-US" sz="1300" dirty="0"/>
          </a:p>
        </p:txBody>
      </p:sp>
      <p:sp>
        <p:nvSpPr>
          <p:cNvPr id="26" name="bar-2"/>
          <p:cNvSpPr/>
          <p:nvPr/>
        </p:nvSpPr>
        <p:spPr>
          <a:xfrm>
            <a:off x="2926080" y="4187952"/>
            <a:ext cx="796740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814260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339 lines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132320" y="3931920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SimpleChartView: custom line and bar charts drawn with Canvas</a:t>
            </a:r>
            <a:endParaRPr lang="en-US" sz="1300" dirty="0"/>
          </a:p>
        </p:txBody>
      </p:sp>
      <p:sp>
        <p:nvSpPr>
          <p:cNvPr id="29" name="pkg-3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</p:sp>
      <p:sp>
        <p:nvSpPr>
          <p:cNvPr id="30" name="icon-bg-MdBuild"/>
          <p:cNvSpPr/>
          <p:nvPr/>
        </p:nvSpPr>
        <p:spPr>
          <a:xfrm>
            <a:off x="777240" y="518464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1" name="icon-MdBuild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11" y="5317419"/>
            <a:ext cx="337962" cy="33796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54480" y="5093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1554480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3 classes</a:t>
            </a:r>
            <a:endParaRPr lang="en-US" sz="1300" dirty="0"/>
          </a:p>
        </p:txBody>
      </p:sp>
      <p:sp>
        <p:nvSpPr>
          <p:cNvPr id="34" name="bar-3"/>
          <p:cNvSpPr/>
          <p:nvPr/>
        </p:nvSpPr>
        <p:spPr>
          <a:xfrm>
            <a:off x="2926080" y="5330952"/>
            <a:ext cx="392494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410014" y="5285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167 lines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132320" y="5074920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WeatherCodes (WMO code → text + icon), Formatters, Units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code: network first, cache fallback</a:t>
            </a:r>
            <a:endParaRPr lang="en-US" sz="3200" dirty="0"/>
          </a:p>
        </p:txBody>
      </p:sp>
      <p:sp>
        <p:nvSpPr>
          <p:cNvPr id="5" name="code-bg"/>
          <p:cNvSpPr/>
          <p:nvPr/>
        </p:nvSpPr>
        <p:spPr>
          <a:xfrm>
            <a:off x="548640" y="1508760"/>
            <a:ext cx="6766560" cy="4663440"/>
          </a:xfrm>
          <a:prstGeom prst="roundRect">
            <a:avLst>
              <a:gd name="adj" fmla="val 19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WeatherRepository.java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WeatherResult loadForecast(City city, String units)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json = WeatherApiClient.get(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WeatherApiClient.buildForecastUrl(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city.getLatitude(), city.getLongitude(), units));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Forecast forecast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ForecastParser.parseForecast(json, units);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long now = System.currentTimeMillis();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database.saveForecast(city.getId(), json, units, now);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new WeatherResult(city, forecast, json,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false, now, 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catch (IOException | JSONException 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loadCachedForecast(city); // offline fallback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k1-0"/>
          <p:cNvSpPr/>
          <p:nvPr/>
        </p:nvSpPr>
        <p:spPr>
          <a:xfrm>
            <a:off x="7589520" y="15087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459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1. Download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HttpURLConnection, 10 s timeouts, runs in an AsyncTask off the UI thread.</a:t>
            </a:r>
            <a:endParaRPr lang="en-US" sz="1400" dirty="0"/>
          </a:p>
        </p:txBody>
      </p:sp>
      <p:sp>
        <p:nvSpPr>
          <p:cNvPr id="9" name="k1-1"/>
          <p:cNvSpPr/>
          <p:nvPr/>
        </p:nvSpPr>
        <p:spPr>
          <a:xfrm>
            <a:off x="7589520" y="31089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2461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2. Parse and cache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org.json builds the Forecast; the raw JSON replaces the city's cache row.</a:t>
            </a:r>
            <a:endParaRPr lang="en-US" sz="1400" dirty="0"/>
          </a:p>
        </p:txBody>
      </p:sp>
      <p:sp>
        <p:nvSpPr>
          <p:cNvPr id="11" name="k1-2"/>
          <p:cNvSpPr/>
          <p:nvPr/>
        </p:nvSpPr>
        <p:spPr>
          <a:xfrm>
            <a:off x="7589520" y="47091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48463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3. Fall back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 failure, the cached JSON is parsed instead and the offline banner shows its time.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code: chart axes that pick their own scale</a:t>
            </a:r>
            <a:endParaRPr lang="en-US" sz="3200" dirty="0"/>
          </a:p>
        </p:txBody>
      </p:sp>
      <p:sp>
        <p:nvSpPr>
          <p:cNvPr id="5" name="code-bg"/>
          <p:cNvSpPr/>
          <p:nvPr/>
        </p:nvSpPr>
        <p:spPr>
          <a:xfrm>
            <a:off x="548640" y="1508760"/>
            <a:ext cx="6766560" cy="4663440"/>
          </a:xfrm>
          <a:prstGeom prst="roundRect">
            <a:avLst>
              <a:gd name="adj" fmla="val 19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SimpleChartView.java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rounds a raw gridline step to 1, 2, 5 or 10 x 10^n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niceStep(double rawStep)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(rawStep &lt;= 0 || Double.isNaN(rawStep))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double magnitude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Math.pow(10, Math.floor(Math.log10(rawStep)));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double fraction = rawStep / magnitude;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double nice = (fraction &lt;= 1) ? 1 : (fraction &lt;= 2) ? 2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(fraction &lt;= 5) ? 5 : 10;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Math.max(1, nice * magnitude);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converts a data value to a y coordinate in the plot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float toY(double value, double min,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double max, float top, float plotHeight)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(float) (top + plotHeight 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(1 - (value - min) / (max - min)));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k2-0"/>
          <p:cNvSpPr/>
          <p:nvPr/>
        </p:nvSpPr>
        <p:spPr>
          <a:xfrm>
            <a:off x="7589520" y="15087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459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Scales to any view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size is computed in onDraw from the view's width and height, in dp and sp.</a:t>
            </a:r>
            <a:endParaRPr lang="en-US" sz="1400" dirty="0"/>
          </a:p>
        </p:txBody>
      </p:sp>
      <p:sp>
        <p:nvSpPr>
          <p:cNvPr id="9" name="k2-1"/>
          <p:cNvSpPr/>
          <p:nvPr/>
        </p:nvSpPr>
        <p:spPr>
          <a:xfrm>
            <a:off x="7589520" y="31089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2461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Readable labels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X-labels that would overlap are skipped; high/low values print above and below their lines.</a:t>
            </a:r>
            <a:endParaRPr lang="en-US" sz="1400" dirty="0"/>
          </a:p>
        </p:txBody>
      </p:sp>
      <p:sp>
        <p:nvSpPr>
          <p:cNvPr id="11" name="k2-2"/>
          <p:cNvSpPr/>
          <p:nvPr/>
        </p:nvSpPr>
        <p:spPr>
          <a:xfrm>
            <a:off x="7589520" y="4709160"/>
            <a:ext cx="4053535" cy="1417320"/>
          </a:xfrm>
          <a:prstGeom prst="roundRect">
            <a:avLst>
              <a:gd name="adj" fmla="val 6452"/>
            </a:avLst>
          </a:prstGeom>
          <a:noFill/>
          <a:ln w="12700">
            <a:noFill/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484632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Handles gaps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Missing (NaN) values leave a break in the line instead of a wrong point.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Test cases:</a:t>
            </a:r>
            <a:endParaRPr lang="en-US" sz="3200">
              <a:latin typeface="Cambria"/>
              <a:ea typeface="Cambria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61830"/>
              </p:ext>
            </p:extLst>
          </p:nvPr>
        </p:nvGraphicFramePr>
        <p:xfrm>
          <a:off x="548640" y="1554480"/>
          <a:ext cx="11094415" cy="459943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Req.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Steps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Expected result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FR-01, 10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Install and open the app fresh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Cape Girardeau weather with every field filled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TC-02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FR-02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Look at the Today tab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24-hour temperature chart with readable labels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TC-03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FR-03–05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Open the Forecast tab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High/low chart, rain chart and 7-day list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TC-04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FR-06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 "Paris", tap Paris, France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Today tab shows Paris weather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TC-05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FR-13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 with an empty box, then "</a:t>
                      </a:r>
                      <a:r>
                        <a:rPr lang="en-US" sz="1300" dirty="0" err="1">
                          <a:solidFill>
                            <a:srgbClr val="1B2430"/>
                          </a:solidFill>
                        </a:rPr>
                        <a:t>xyzxyz</a:t>
                      </a: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"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"Please enter a city name", then "No cities found"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TC-06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FR-07, 08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Save Paris, open Favorites, tap it, delete it, tap Undo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Paris listed, opens on tap, removed, then restored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TC-07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FR-09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Choose °C and km/h in Settings, go back, restart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Weather reloads in °C; setting kept after restart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latin typeface="Cambria"/>
                <a:ea typeface="Cambria"/>
              </a:rPr>
              <a:t>Test cases:</a:t>
            </a:r>
            <a:endParaRPr lang="en-US" sz="3200">
              <a:latin typeface="Cambria"/>
              <a:ea typeface="Cambria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782151"/>
              </p:ext>
            </p:extLst>
          </p:nvPr>
        </p:nvGraphicFramePr>
        <p:xfrm>
          <a:off x="548640" y="1554480"/>
          <a:ext cx="11094415" cy="459943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Req.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Steps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Expected result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TC-08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FR-10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View Paris, close the app fully, reopen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Paris shows, not Cape Girardeau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TC-09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FR-11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Pull down on Today; tap Refresh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Data reloads and the "Updated" time changes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TC-10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FR-12, NFR-03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Load a city, turn on airplane mode, reopen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Cached weather with the offline banner, no crash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TC-11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FR-13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Airplane mode, search any city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"No internet connection", no crash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TC-12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NFR-03, 05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Rotate on every screen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Layout adjusts, data stays, no crash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TC-13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NFR-01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Time the load on Wi-Fi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Weather appears in under 3 seconds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TC-14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NFR-02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Tap around while weather loads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No freeze or "App not responding"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</a:rPr>
                        <a:t>Pass 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err="1">
                <a:latin typeface="Cambria"/>
                <a:ea typeface="Cambria"/>
              </a:rPr>
              <a:t>SkyCast</a:t>
            </a:r>
            <a:r>
              <a:rPr lang="en-US" sz="3200" b="1">
                <a:latin typeface="Cambria"/>
                <a:ea typeface="Cambria"/>
              </a:rPr>
              <a:t> running on a device: 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5" name="slot"/>
          <p:cNvSpPr/>
          <p:nvPr/>
        </p:nvSpPr>
        <p:spPr>
          <a:xfrm>
            <a:off x="1231849" y="1508760"/>
            <a:ext cx="2331720" cy="4160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7529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</a:rPr>
              <a:t>Today tab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Current weather and 24-hour chart</a:t>
            </a:r>
            <a:endParaRPr lang="en-US" sz="1300" dirty="0"/>
          </a:p>
        </p:txBody>
      </p:sp>
      <p:sp>
        <p:nvSpPr>
          <p:cNvPr id="8" name="slot"/>
          <p:cNvSpPr/>
          <p:nvPr/>
        </p:nvSpPr>
        <p:spPr>
          <a:xfrm>
            <a:off x="4929988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5668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</a:rPr>
              <a:t>Forecast tab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>
                <a:solidFill>
                  <a:srgbClr val="1B2430"/>
                </a:solidFill>
              </a:rPr>
              <a:t>High/low chart, rain chart</a:t>
            </a:r>
            <a:endParaRPr lang="en-US" sz="1300"/>
          </a:p>
        </p:txBody>
      </p:sp>
      <p:sp>
        <p:nvSpPr>
          <p:cNvPr id="11" name="slot"/>
          <p:cNvSpPr/>
          <p:nvPr/>
        </p:nvSpPr>
        <p:spPr>
          <a:xfrm>
            <a:off x="8628126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3806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0F2A44"/>
                </a:solidFill>
              </a:rPr>
              <a:t>Forecast tab</a:t>
            </a:r>
            <a:endParaRPr lang="en-US" sz="1300"/>
          </a:p>
          <a:p>
            <a:pPr algn="ctr"/>
            <a:r>
              <a:rPr lang="en-US" sz="1300">
                <a:solidFill>
                  <a:srgbClr val="1B2430"/>
                </a:solidFill>
              </a:rPr>
              <a:t>7 Day Weather View</a:t>
            </a:r>
            <a:endParaRPr lang="en-US" sz="1300" dirty="0">
              <a:solidFill>
                <a:srgbClr val="1B243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126F2D-6E61-F5E3-E01B-CC189045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247" y="1512793"/>
            <a:ext cx="2333626" cy="41573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A2EFD7-692A-9C81-EB0C-A6D4385DF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501590"/>
            <a:ext cx="2333625" cy="41685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795A69-8EF5-6740-A2D8-5318B2304E0D}"/>
              </a:ext>
            </a:extLst>
          </p:cNvPr>
          <p:cNvSpPr txBox="1"/>
          <p:nvPr/>
        </p:nvSpPr>
        <p:spPr>
          <a:xfrm>
            <a:off x="691007" y="1684695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4E2646-8E0D-203D-B5F9-7C9A14B3B8AA}"/>
              </a:ext>
            </a:extLst>
          </p:cNvPr>
          <p:cNvSpPr txBox="1"/>
          <p:nvPr/>
        </p:nvSpPr>
        <p:spPr>
          <a:xfrm>
            <a:off x="843407" y="1837095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5B2A32-E578-1E7A-CDE5-00E8C49BF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29" y="1512793"/>
            <a:ext cx="2333626" cy="41573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err="1">
                <a:latin typeface="Cambria"/>
                <a:ea typeface="Cambria"/>
              </a:rPr>
              <a:t>SkyCast</a:t>
            </a:r>
            <a:r>
              <a:rPr lang="en-US" sz="3200" b="1">
                <a:latin typeface="Cambria"/>
                <a:ea typeface="Cambria"/>
              </a:rPr>
              <a:t> running on a device: 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5" name="slot"/>
          <p:cNvSpPr/>
          <p:nvPr/>
        </p:nvSpPr>
        <p:spPr>
          <a:xfrm>
            <a:off x="1231849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7529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</a:rPr>
              <a:t>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Results for a city name</a:t>
            </a:r>
            <a:endParaRPr lang="en-US" sz="1300" dirty="0"/>
          </a:p>
        </p:txBody>
      </p:sp>
      <p:sp>
        <p:nvSpPr>
          <p:cNvPr id="8" name="slot"/>
          <p:cNvSpPr/>
          <p:nvPr/>
        </p:nvSpPr>
        <p:spPr>
          <a:xfrm>
            <a:off x="4929988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5668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</a:rPr>
              <a:t>Settings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°F + mph or °C + km/h</a:t>
            </a:r>
            <a:endParaRPr lang="en-US" sz="1300" dirty="0"/>
          </a:p>
        </p:txBody>
      </p:sp>
      <p:sp>
        <p:nvSpPr>
          <p:cNvPr id="11" name="slot"/>
          <p:cNvSpPr/>
          <p:nvPr/>
        </p:nvSpPr>
        <p:spPr>
          <a:xfrm>
            <a:off x="8628126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3806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</a:rPr>
              <a:t>Offline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</a:rPr>
              <a:t>Cached forecast with the offline banner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D20495-993A-BF63-2AB9-B1DDA8FC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247" y="1512794"/>
            <a:ext cx="2333625" cy="4157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071FFC-365C-6810-FA8D-F4F8A9065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512794"/>
            <a:ext cx="2333625" cy="41573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ADC8C9-96BB-E4AA-1716-4AB80F9B8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29" y="1512794"/>
            <a:ext cx="2333625" cy="41685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0D44-EDC7-D2B5-9B29-CD397D9C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63479EC-6754-C517-CD82-96B6FAEDFC13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err="1">
                <a:latin typeface="Cambria"/>
                <a:ea typeface="Cambria"/>
              </a:rPr>
              <a:t>SkyCast</a:t>
            </a:r>
            <a:r>
              <a:rPr lang="en-US" sz="3200" b="1">
                <a:latin typeface="Cambria"/>
                <a:ea typeface="Cambria"/>
              </a:rPr>
              <a:t> running on a device: 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8" name="slot">
            <a:extLst>
              <a:ext uri="{FF2B5EF4-FFF2-40B4-BE49-F238E27FC236}">
                <a16:creationId xmlns:a16="http://schemas.microsoft.com/office/drawing/2014/main" id="{6C408F03-43D5-428C-C2D3-52401C0D224D}"/>
              </a:ext>
            </a:extLst>
          </p:cNvPr>
          <p:cNvSpPr/>
          <p:nvPr/>
        </p:nvSpPr>
        <p:spPr>
          <a:xfrm>
            <a:off x="4929988" y="1508760"/>
            <a:ext cx="2331720" cy="4160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6681194-BCC6-AFD1-3BD4-C5C70F2090F1}"/>
              </a:ext>
            </a:extLst>
          </p:cNvPr>
          <p:cNvSpPr txBox="1"/>
          <p:nvPr/>
        </p:nvSpPr>
        <p:spPr>
          <a:xfrm>
            <a:off x="4655668" y="5715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0F2A44"/>
                </a:solidFill>
              </a:rPr>
              <a:t>Favorites</a:t>
            </a:r>
            <a:endParaRPr lang="en-US"/>
          </a:p>
          <a:p>
            <a:pPr algn="ctr"/>
            <a:r>
              <a:rPr lang="en-US" sz="1300">
                <a:solidFill>
                  <a:srgbClr val="1B2430"/>
                </a:solidFill>
              </a:rPr>
              <a:t>Favorite cities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CE3682-F586-0FF9-1494-BB578BEE2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512794"/>
            <a:ext cx="2333625" cy="415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86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424C8-D716-E9D9-942B-A80E903FE577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 err="1">
                <a:latin typeface="Cambria"/>
                <a:ea typeface="Cambria"/>
              </a:rPr>
              <a:t>SkyCast</a:t>
            </a:r>
            <a:r>
              <a:rPr lang="en-US" dirty="0">
                <a:latin typeface="Cambria"/>
                <a:ea typeface="Cambria"/>
              </a:rPr>
              <a:t> Running on Emulator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C561C-5E58-75B7-427F-C3D732178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22294"/>
            <a:ext cx="9132795" cy="513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9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5" name="future-0"/>
          <p:cNvSpPr/>
          <p:nvPr/>
        </p:nvSpPr>
        <p:spPr>
          <a:xfrm>
            <a:off x="548640" y="160020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icon-bg-MdMyLocation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MdMyLocati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0153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5176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Current location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Find the nearest city from GPS (FR-14).</a:t>
            </a:r>
            <a:endParaRPr lang="en-US" sz="1500" dirty="0"/>
          </a:p>
        </p:txBody>
      </p:sp>
      <p:sp>
        <p:nvSpPr>
          <p:cNvPr id="9" name="future-1"/>
          <p:cNvSpPr/>
          <p:nvPr/>
        </p:nvSpPr>
        <p:spPr>
          <a:xfrm>
            <a:off x="4338218" y="160020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icon-bg-MdNotifications"/>
          <p:cNvSpPr/>
          <p:nvPr/>
        </p:nvSpPr>
        <p:spPr>
          <a:xfrm>
            <a:off x="4612538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MdNotification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356" y="2015338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2538" y="265176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Daily notification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Morning summary of the day's weather (FR-15).</a:t>
            </a:r>
            <a:endParaRPr lang="en-US" sz="1500" dirty="0"/>
          </a:p>
        </p:txBody>
      </p:sp>
      <p:sp>
        <p:nvSpPr>
          <p:cNvPr id="13" name="future-2"/>
          <p:cNvSpPr/>
          <p:nvPr/>
        </p:nvSpPr>
        <p:spPr>
          <a:xfrm>
            <a:off x="8127797" y="160020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icon-bg-MdWidgets"/>
          <p:cNvSpPr/>
          <p:nvPr/>
        </p:nvSpPr>
        <p:spPr>
          <a:xfrm>
            <a:off x="8402117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-MdWidget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934" y="2015338"/>
            <a:ext cx="358445" cy="35844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02117" y="265176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Home-screen widget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Current temperature without opening the app.</a:t>
            </a:r>
            <a:endParaRPr lang="en-US" sz="1500" dirty="0"/>
          </a:p>
        </p:txBody>
      </p:sp>
      <p:sp>
        <p:nvSpPr>
          <p:cNvPr id="17" name="future-3"/>
          <p:cNvSpPr/>
          <p:nvPr/>
        </p:nvSpPr>
        <p:spPr>
          <a:xfrm>
            <a:off x="548640" y="3840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icon-bg-MdTouchApp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con-MdTouchAp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8" y="4255618"/>
            <a:ext cx="358445" cy="35844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22960" y="4892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Interactive charts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Tap a point for its value; hourly detail for each day.</a:t>
            </a:r>
            <a:endParaRPr lang="en-US" sz="1500" dirty="0"/>
          </a:p>
        </p:txBody>
      </p:sp>
      <p:sp>
        <p:nvSpPr>
          <p:cNvPr id="21" name="future-4"/>
          <p:cNvSpPr/>
          <p:nvPr/>
        </p:nvSpPr>
        <p:spPr>
          <a:xfrm>
            <a:off x="4338218" y="3840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icon-bg-MdWarning"/>
          <p:cNvSpPr/>
          <p:nvPr/>
        </p:nvSpPr>
        <p:spPr>
          <a:xfrm>
            <a:off x="4612538" y="4114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-MdWarning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356" y="4255618"/>
            <a:ext cx="358445" cy="35844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612538" y="4892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Weather alerts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Warn about storms, heat or freezing temperatures.</a:t>
            </a:r>
            <a:endParaRPr lang="en-US" sz="1500" dirty="0"/>
          </a:p>
        </p:txBody>
      </p:sp>
      <p:sp>
        <p:nvSpPr>
          <p:cNvPr id="25" name="future-5"/>
          <p:cNvSpPr/>
          <p:nvPr/>
        </p:nvSpPr>
        <p:spPr>
          <a:xfrm>
            <a:off x="8127797" y="3840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icon-bg-MdUpgrade"/>
          <p:cNvSpPr/>
          <p:nvPr/>
        </p:nvSpPr>
        <p:spPr>
          <a:xfrm>
            <a:off x="8402117" y="4114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on-MdUpgrad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2934" y="4255618"/>
            <a:ext cx="358445" cy="35844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02117" y="4892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Modernize the stack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AndroidX, Room and Executors in place of deprecated AsyncTask.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un"/>
          <p:cNvSpPr/>
          <p:nvPr/>
        </p:nvSpPr>
        <p:spPr>
          <a:xfrm>
            <a:off x="9144000" y="1463040"/>
            <a:ext cx="2468880" cy="246888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pic>
        <p:nvPicPr>
          <p:cNvPr id="5" name="clou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743200"/>
            <a:ext cx="2651760" cy="2651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72D6C-2917-A469-277A-494FBED91AF8}"/>
              </a:ext>
            </a:extLst>
          </p:cNvPr>
          <p:cNvSpPr txBox="1"/>
          <p:nvPr/>
        </p:nvSpPr>
        <p:spPr>
          <a:xfrm>
            <a:off x="547588" y="6206858"/>
            <a:ext cx="892472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Disclaimer: Artificial Intelligence was used in order to design some aspects of this presentation. While the idea and execution are </a:t>
            </a:r>
            <a:r>
              <a:rPr lang="en-US" sz="1100" b="1" dirty="0">
                <a:solidFill>
                  <a:schemeClr val="bg1"/>
                </a:solidFill>
              </a:rPr>
              <a:t>completely mine</a:t>
            </a:r>
            <a:r>
              <a:rPr lang="en-US" sz="1100" dirty="0">
                <a:solidFill>
                  <a:schemeClr val="bg1"/>
                </a:solidFill>
              </a:rPr>
              <a:t>, AI helped me outline, design, and </a:t>
            </a:r>
            <a:r>
              <a:rPr lang="en-US" sz="1100">
                <a:solidFill>
                  <a:schemeClr val="bg1"/>
                </a:solidFill>
              </a:rPr>
              <a:t>complete this presentation.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Axi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Ax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626E1DE4-363E-4A1A-A3CD-C79E498A714F}" vid="{3530EF86-100D-4C27-9316-4189EFA98A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Axis</vt:lpstr>
      <vt:lpstr>SkyCast</vt:lpstr>
      <vt:lpstr>SkyCast: Components</vt:lpstr>
      <vt:lpstr>Developed using Waterfall Method</vt:lpstr>
      <vt:lpstr>Objectives:</vt:lpstr>
      <vt:lpstr>15 functional requirements, 13 built</vt:lpstr>
      <vt:lpstr>Nine non-functional requirements</vt:lpstr>
      <vt:lpstr>Platform and UI</vt:lpstr>
      <vt:lpstr>Data and charts</vt:lpstr>
      <vt:lpstr>System diagram</vt:lpstr>
      <vt:lpstr>Use cases</vt:lpstr>
      <vt:lpstr>Screen flow</vt:lpstr>
      <vt:lpstr>Risks, trade-offs and limits</vt:lpstr>
      <vt:lpstr>2,366 lines of Java in four packages</vt:lpstr>
      <vt:lpstr>Key code: network first, cache fallback</vt:lpstr>
      <vt:lpstr>Key code: chart axes that pick their own scale</vt:lpstr>
      <vt:lpstr>Test cases:</vt:lpstr>
      <vt:lpstr>Test cases:</vt:lpstr>
      <vt:lpstr>SkyCast running on a device: </vt:lpstr>
      <vt:lpstr>SkyCast running on a device: </vt:lpstr>
      <vt:lpstr>SkyCast running on a device: </vt:lpstr>
      <vt:lpstr>SkyCast Running on Emulator</vt:lpstr>
      <vt:lpstr>Future work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SkyCast — Android Weather App Project Report</dc:title>
  <dc:subject>CS533 Solo Project</dc:subject>
  <dc:creator>PptxGenJS</dc:creator>
  <cp:lastModifiedBy>PptxGenJS</cp:lastModifiedBy>
  <cp:revision>371</cp:revision>
  <dcterms:created xsi:type="dcterms:W3CDTF">2026-10-08T18:19:20Z</dcterms:created>
  <dcterms:modified xsi:type="dcterms:W3CDTF">2026-10-11T09:03:03Z</dcterms:modified>
</cp:coreProperties>
</file>